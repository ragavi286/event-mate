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62" r:id="rId3"/>
    <p:sldId id="269" r:id="rId4"/>
    <p:sldId id="273" r:id="rId5"/>
    <p:sldId id="271" r:id="rId6"/>
    <p:sldId id="272" r:id="rId7"/>
    <p:sldId id="264" r:id="rId8"/>
    <p:sldId id="280" r:id="rId9"/>
    <p:sldId id="276" r:id="rId10"/>
    <p:sldId id="265" r:id="rId11"/>
    <p:sldId id="258" r:id="rId12"/>
    <p:sldId id="266" r:id="rId13"/>
    <p:sldId id="277" r:id="rId14"/>
    <p:sldId id="279" r:id="rId15"/>
    <p:sldId id="275" r:id="rId16"/>
    <p:sldId id="278" r:id="rId17"/>
    <p:sldId id="281" r:id="rId18"/>
    <p:sldId id="282" r:id="rId19"/>
    <p:sldId id="267" r:id="rId20"/>
    <p:sldId id="284" r:id="rId21"/>
    <p:sldId id="283" r:id="rId22"/>
    <p:sldId id="268"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Untitled Section" id="{9974F4A9-BF02-44CD-A884-4C1ABD1E801C}">
          <p14:sldIdLst/>
        </p14:section>
        <p14:section name="Untitled Section" id="{14A0B99F-F943-491F-B4FD-C089274640AF}">
          <p14:sldIdLst>
            <p14:sldId id="256"/>
            <p14:sldId id="262"/>
            <p14:sldId id="269"/>
            <p14:sldId id="273"/>
            <p14:sldId id="271"/>
            <p14:sldId id="272"/>
            <p14:sldId id="264"/>
            <p14:sldId id="280"/>
            <p14:sldId id="276"/>
            <p14:sldId id="265"/>
            <p14:sldId id="258"/>
            <p14:sldId id="266"/>
            <p14:sldId id="277"/>
            <p14:sldId id="279"/>
            <p14:sldId id="275"/>
            <p14:sldId id="278"/>
            <p14:sldId id="281"/>
            <p14:sldId id="282"/>
            <p14:sldId id="267"/>
            <p14:sldId id="284"/>
            <p14:sldId id="283"/>
            <p14:sldId id="26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629C243-E5F0-4A75-FE0D-AE54C3B62177}" v="347" dt="2025-09-17T17:49:48.333"/>
    <p1510:client id="{A74C36A6-9252-4302-86CA-EA7D9B0A376E}" v="582" dt="2025-09-17T17:18:56.786"/>
    <p1510:client id="{C293EA56-21C6-3405-674E-5D6F9BCE07E7}" v="2" dt="2025-09-17T16:59:50.74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92" d="100"/>
          <a:sy n="92" d="100"/>
        </p:scale>
        <p:origin x="307"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846CE7D5-CF57-46EF-B807-FDD0502418D4}" type="datetimeFigureOut">
              <a:rPr lang="en-US" smtClean="0"/>
              <a:t>11/3/2025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11/3/2025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11/3/2025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46CE7D5-CF57-46EF-B807-FDD0502418D4}" type="datetimeFigureOut">
              <a:rPr lang="en-US" smtClean="0"/>
              <a:t>11/3/2025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46CE7D5-CF57-46EF-B807-FDD0502418D4}" type="datetimeFigureOut">
              <a:rPr lang="en-US" smtClean="0"/>
              <a:t>11/3/2025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46CE7D5-CF57-46EF-B807-FDD0502418D4}" type="datetimeFigureOut">
              <a:rPr lang="en-US" smtClean="0"/>
              <a:t>11/3/2025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11/3/2025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11/3/2025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11/3/2025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11/3/2025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11/3/2025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US" smtClean="0"/>
              <a:t>11/3/2025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1" name="Rectangle 70">
            <a:extLst>
              <a:ext uri="{FF2B5EF4-FFF2-40B4-BE49-F238E27FC236}">
                <a16:creationId xmlns:a16="http://schemas.microsoft.com/office/drawing/2014/main" id="{73A25D70-4A55-4F72-B9C5-A69CDBF4DB4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Rectangle 72">
            <a:extLst>
              <a:ext uri="{FF2B5EF4-FFF2-40B4-BE49-F238E27FC236}">
                <a16:creationId xmlns:a16="http://schemas.microsoft.com/office/drawing/2014/main" id="{54957100-6D8B-4161-9F2F-C0A949EC84C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75" name="Rectangle 74">
            <a:extLst>
              <a:ext uri="{FF2B5EF4-FFF2-40B4-BE49-F238E27FC236}">
                <a16:creationId xmlns:a16="http://schemas.microsoft.com/office/drawing/2014/main" id="{0BD8B065-EE51-4AE2-A94C-86249998FD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gradFill flip="none" rotWithShape="1">
            <a:gsLst>
              <a:gs pos="16000">
                <a:schemeClr val="accent6">
                  <a:alpha val="20000"/>
                </a:schemeClr>
              </a:gs>
              <a:gs pos="85000">
                <a:schemeClr val="accent1">
                  <a:alpha val="4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3209880" y="1284873"/>
            <a:ext cx="5875741" cy="709589"/>
          </a:xfrm>
          <a:noFill/>
          <a:ln>
            <a:noFill/>
          </a:ln>
        </p:spPr>
        <p:txBody>
          <a:bodyPr anchor="b">
            <a:noAutofit/>
          </a:bodyPr>
          <a:lstStyle/>
          <a:p>
            <a:r>
              <a:rPr lang="en-US" sz="9600" b="1" u="sng" dirty="0" err="1">
                <a:latin typeface="Calibri"/>
                <a:ea typeface="+mj-lt"/>
                <a:cs typeface="+mj-lt"/>
              </a:rPr>
              <a:t>EventMate</a:t>
            </a:r>
            <a:endParaRPr lang="en-US" sz="9600" u="sng" dirty="0">
              <a:latin typeface="Calibri"/>
              <a:ea typeface="Calibri"/>
              <a:cs typeface="Calibri"/>
              <a:hlinkClick r:id="" action="ppaction://noaction">
                <a:extLst>
                  <a:ext uri="{A12FA001-AC4F-418D-AE19-62706E023703}">
                    <ahyp:hlinkClr xmlns:ahyp="http://schemas.microsoft.com/office/drawing/2018/hyperlinkcolor" val="tx"/>
                  </a:ext>
                </a:extLst>
              </a:hlinkClick>
            </a:endParaRPr>
          </a:p>
        </p:txBody>
      </p:sp>
      <p:grpSp>
        <p:nvGrpSpPr>
          <p:cNvPr id="77" name="Group 76">
            <a:extLst>
              <a:ext uri="{FF2B5EF4-FFF2-40B4-BE49-F238E27FC236}">
                <a16:creationId xmlns:a16="http://schemas.microsoft.com/office/drawing/2014/main" id="{18999293-B054-4B57-A26F-D04C2BB1133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18230" y="-43336"/>
            <a:ext cx="5163047" cy="2657478"/>
            <a:chOff x="6867015" y="-1"/>
            <a:chExt cx="5324985" cy="3251912"/>
          </a:xfrm>
          <a:solidFill>
            <a:schemeClr val="bg1">
              <a:alpha val="30000"/>
            </a:schemeClr>
          </a:solidFill>
        </p:grpSpPr>
        <p:sp>
          <p:nvSpPr>
            <p:cNvPr id="78" name="Freeform: Shape 77">
              <a:extLst>
                <a:ext uri="{FF2B5EF4-FFF2-40B4-BE49-F238E27FC236}">
                  <a16:creationId xmlns:a16="http://schemas.microsoft.com/office/drawing/2014/main" id="{5E505D8A-F41A-450D-A648-E77DF6B8D84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Freeform: Shape 78">
              <a:extLst>
                <a:ext uri="{FF2B5EF4-FFF2-40B4-BE49-F238E27FC236}">
                  <a16:creationId xmlns:a16="http://schemas.microsoft.com/office/drawing/2014/main" id="{E2BD6DCE-6A81-4F34-9958-67B578EA166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Freeform: Shape 79">
              <a:extLst>
                <a:ext uri="{FF2B5EF4-FFF2-40B4-BE49-F238E27FC236}">
                  <a16:creationId xmlns:a16="http://schemas.microsoft.com/office/drawing/2014/main" id="{5C462BE8-CD72-48CF-8A7B-C716D2B99E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Freeform: Shape 80">
              <a:extLst>
                <a:ext uri="{FF2B5EF4-FFF2-40B4-BE49-F238E27FC236}">
                  <a16:creationId xmlns:a16="http://schemas.microsoft.com/office/drawing/2014/main" id="{1C2CDB70-40F1-4D00-8F17-A532E732EB2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83" name="Group 82">
            <a:extLst>
              <a:ext uri="{FF2B5EF4-FFF2-40B4-BE49-F238E27FC236}">
                <a16:creationId xmlns:a16="http://schemas.microsoft.com/office/drawing/2014/main" id="{761945C4-D997-42F3-B59A-984CF006671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a:off x="9058275" y="4146310"/>
            <a:ext cx="3142400" cy="2716805"/>
            <a:chOff x="-305" y="-4155"/>
            <a:chExt cx="2514948" cy="2174333"/>
          </a:xfrm>
          <a:solidFill>
            <a:schemeClr val="bg1">
              <a:alpha val="30000"/>
            </a:schemeClr>
          </a:solidFill>
        </p:grpSpPr>
        <p:sp>
          <p:nvSpPr>
            <p:cNvPr id="84" name="Freeform: Shape 83">
              <a:extLst>
                <a:ext uri="{FF2B5EF4-FFF2-40B4-BE49-F238E27FC236}">
                  <a16:creationId xmlns:a16="http://schemas.microsoft.com/office/drawing/2014/main" id="{4651FE4A-9487-43BE-A388-134535743B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 name="Freeform: Shape 84">
              <a:extLst>
                <a:ext uri="{FF2B5EF4-FFF2-40B4-BE49-F238E27FC236}">
                  <a16:creationId xmlns:a16="http://schemas.microsoft.com/office/drawing/2014/main" id="{F44B0EF3-9992-4B95-8A43-6206B3FC3F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Freeform: Shape 85">
              <a:extLst>
                <a:ext uri="{FF2B5EF4-FFF2-40B4-BE49-F238E27FC236}">
                  <a16:creationId xmlns:a16="http://schemas.microsoft.com/office/drawing/2014/main" id="{041B1C1F-C2FE-4C47-9D74-ADB9B53F4BF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87" name="Freeform: Shape 86">
              <a:extLst>
                <a:ext uri="{FF2B5EF4-FFF2-40B4-BE49-F238E27FC236}">
                  <a16:creationId xmlns:a16="http://schemas.microsoft.com/office/drawing/2014/main" id="{1048177B-A49E-4E24-9007-07A0EDD6A2E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9" name="Group 8">
            <a:extLst>
              <a:ext uri="{FF2B5EF4-FFF2-40B4-BE49-F238E27FC236}">
                <a16:creationId xmlns:a16="http://schemas.microsoft.com/office/drawing/2014/main" id="{5BAE0014-7D47-BE4E-4A62-E2A54B6963C0}"/>
              </a:ext>
            </a:extLst>
          </p:cNvPr>
          <p:cNvGrpSpPr/>
          <p:nvPr/>
        </p:nvGrpSpPr>
        <p:grpSpPr>
          <a:xfrm>
            <a:off x="2232141" y="3020939"/>
            <a:ext cx="6584517" cy="2247839"/>
            <a:chOff x="640623" y="2606179"/>
            <a:chExt cx="6584517" cy="2247839"/>
          </a:xfrm>
        </p:grpSpPr>
        <p:sp>
          <p:nvSpPr>
            <p:cNvPr id="6" name="TextBox 5">
              <a:extLst>
                <a:ext uri="{FF2B5EF4-FFF2-40B4-BE49-F238E27FC236}">
                  <a16:creationId xmlns:a16="http://schemas.microsoft.com/office/drawing/2014/main" id="{6206FE5E-788F-AC77-0393-2C6CFDEFDF64}"/>
                </a:ext>
              </a:extLst>
            </p:cNvPr>
            <p:cNvSpPr txBox="1"/>
            <p:nvPr/>
          </p:nvSpPr>
          <p:spPr>
            <a:xfrm>
              <a:off x="640623" y="2606179"/>
              <a:ext cx="3436517"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600" b="1">
                  <a:latin typeface="Calibri"/>
                  <a:ea typeface="Calibri"/>
                  <a:cs typeface="Calibri"/>
                </a:rPr>
                <a:t>Team Member's: </a:t>
              </a:r>
            </a:p>
          </p:txBody>
        </p:sp>
        <p:sp>
          <p:nvSpPr>
            <p:cNvPr id="7" name="TextBox 6">
              <a:extLst>
                <a:ext uri="{FF2B5EF4-FFF2-40B4-BE49-F238E27FC236}">
                  <a16:creationId xmlns:a16="http://schemas.microsoft.com/office/drawing/2014/main" id="{81BC2F5C-A3DB-CC45-DC09-CAC4C3DE2BF2}"/>
                </a:ext>
              </a:extLst>
            </p:cNvPr>
            <p:cNvSpPr txBox="1"/>
            <p:nvPr/>
          </p:nvSpPr>
          <p:spPr>
            <a:xfrm>
              <a:off x="4109372" y="2607249"/>
              <a:ext cx="3115768" cy="224676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514350" indent="-514350" algn="l">
                <a:buAutoNum type="arabicPeriod"/>
              </a:pPr>
              <a:r>
                <a:rPr lang="en-US" sz="2800" dirty="0">
                  <a:latin typeface="Calibri"/>
                  <a:ea typeface="Calibri"/>
                  <a:cs typeface="Calibri"/>
                </a:rPr>
                <a:t>Manisha</a:t>
              </a:r>
            </a:p>
            <a:p>
              <a:pPr marL="514350" indent="-514350">
                <a:buAutoNum type="arabicPeriod"/>
              </a:pPr>
              <a:r>
                <a:rPr lang="en-US" sz="2800" dirty="0">
                  <a:latin typeface="Calibri"/>
                  <a:ea typeface="Calibri"/>
                  <a:cs typeface="Calibri"/>
                </a:rPr>
                <a:t>Ragavi</a:t>
              </a:r>
            </a:p>
            <a:p>
              <a:pPr marL="514350" indent="-514350">
                <a:buAutoNum type="arabicPeriod"/>
              </a:pPr>
              <a:r>
                <a:rPr lang="en-US" sz="2800" dirty="0">
                  <a:latin typeface="Calibri"/>
                  <a:ea typeface="Calibri"/>
                  <a:cs typeface="Calibri"/>
                </a:rPr>
                <a:t>Sanjana</a:t>
              </a:r>
            </a:p>
            <a:p>
              <a:pPr marL="514350" indent="-514350">
                <a:buAutoNum type="arabicPeriod"/>
              </a:pPr>
              <a:r>
                <a:rPr lang="en-US" sz="2800" dirty="0">
                  <a:latin typeface="Calibri"/>
                  <a:ea typeface="Calibri"/>
                  <a:cs typeface="Calibri"/>
                </a:rPr>
                <a:t>Ranjeetha M</a:t>
              </a:r>
            </a:p>
            <a:p>
              <a:pPr marL="514350" indent="-514350">
                <a:buAutoNum type="arabicPeriod"/>
              </a:pPr>
              <a:r>
                <a:rPr lang="en-US" sz="2800" dirty="0">
                  <a:latin typeface="Calibri"/>
                  <a:ea typeface="Calibri"/>
                  <a:cs typeface="Calibri"/>
                </a:rPr>
                <a:t>Aagam </a:t>
              </a:r>
              <a:r>
                <a:rPr lang="en-US" sz="2800" dirty="0" err="1">
                  <a:latin typeface="Calibri"/>
                  <a:ea typeface="Calibri"/>
                  <a:cs typeface="Calibri"/>
                </a:rPr>
                <a:t>Kasliwal</a:t>
              </a:r>
              <a:endParaRPr lang="en-US" sz="2800" dirty="0">
                <a:latin typeface="Calibri"/>
                <a:ea typeface="Calibri"/>
                <a:cs typeface="Calibri"/>
              </a:endParaRPr>
            </a:p>
          </p:txBody>
        </p:sp>
      </p:gr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83B057B-2225-AFED-6D9C-637705797E82}"/>
            </a:ext>
          </a:extLst>
        </p:cNvPr>
        <p:cNvGrpSpPr/>
        <p:nvPr/>
      </p:nvGrpSpPr>
      <p:grpSpPr>
        <a:xfrm>
          <a:off x="0" y="0"/>
          <a:ext cx="0" cy="0"/>
          <a:chOff x="0" y="0"/>
          <a:chExt cx="0" cy="0"/>
        </a:xfrm>
      </p:grpSpPr>
      <p:sp useBgFill="1">
        <p:nvSpPr>
          <p:cNvPr id="71" name="Rectangle 70">
            <a:extLst>
              <a:ext uri="{FF2B5EF4-FFF2-40B4-BE49-F238E27FC236}">
                <a16:creationId xmlns:a16="http://schemas.microsoft.com/office/drawing/2014/main" id="{59249DEB-05A1-883D-611B-FA53D5C735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Rectangle 72">
            <a:extLst>
              <a:ext uri="{FF2B5EF4-FFF2-40B4-BE49-F238E27FC236}">
                <a16:creationId xmlns:a16="http://schemas.microsoft.com/office/drawing/2014/main" id="{7EEABE66-D667-118E-8746-684A591C29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75" name="Rectangle 74">
            <a:extLst>
              <a:ext uri="{FF2B5EF4-FFF2-40B4-BE49-F238E27FC236}">
                <a16:creationId xmlns:a16="http://schemas.microsoft.com/office/drawing/2014/main" id="{337E4368-0844-4ACB-88CE-8B07F218941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gradFill flip="none" rotWithShape="1">
            <a:gsLst>
              <a:gs pos="16000">
                <a:schemeClr val="accent6">
                  <a:alpha val="20000"/>
                </a:schemeClr>
              </a:gs>
              <a:gs pos="85000">
                <a:schemeClr val="accent1">
                  <a:alpha val="4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A70428A-7404-DAFF-2BDC-9986A7A7BD84}"/>
              </a:ext>
            </a:extLst>
          </p:cNvPr>
          <p:cNvSpPr>
            <a:spLocks noGrp="1"/>
          </p:cNvSpPr>
          <p:nvPr>
            <p:ph type="ctrTitle"/>
          </p:nvPr>
        </p:nvSpPr>
        <p:spPr>
          <a:xfrm>
            <a:off x="1288974" y="722128"/>
            <a:ext cx="9044848" cy="709589"/>
          </a:xfrm>
          <a:noFill/>
          <a:ln>
            <a:noFill/>
          </a:ln>
        </p:spPr>
        <p:txBody>
          <a:bodyPr anchor="b">
            <a:noAutofit/>
          </a:bodyPr>
          <a:lstStyle/>
          <a:p>
            <a:r>
              <a:rPr lang="en-US" sz="4800" b="1" u="sng" dirty="0">
                <a:latin typeface="Calibri"/>
                <a:ea typeface="+mj-lt"/>
                <a:cs typeface="+mj-lt"/>
                <a:hlinkClick r:id="" action="ppaction://noaction">
                  <a:extLst>
                    <a:ext uri="{A12FA001-AC4F-418D-AE19-62706E023703}">
                      <ahyp:hlinkClr xmlns:ahyp="http://schemas.microsoft.com/office/drawing/2018/hyperlinkcolor" val="tx"/>
                    </a:ext>
                  </a:extLst>
                </a:hlinkClick>
              </a:rPr>
              <a:t>Introduction to project</a:t>
            </a:r>
            <a:endParaRPr lang="en-US" sz="4800" u="sng" dirty="0">
              <a:latin typeface="Calibri"/>
              <a:ea typeface="Calibri"/>
              <a:cs typeface="Calibri"/>
              <a:hlinkClick r:id="" action="ppaction://noaction">
                <a:extLst>
                  <a:ext uri="{A12FA001-AC4F-418D-AE19-62706E023703}">
                    <ahyp:hlinkClr xmlns:ahyp="http://schemas.microsoft.com/office/drawing/2018/hyperlinkcolor" val="tx"/>
                  </a:ext>
                </a:extLst>
              </a:hlinkClick>
            </a:endParaRPr>
          </a:p>
        </p:txBody>
      </p:sp>
      <p:grpSp>
        <p:nvGrpSpPr>
          <p:cNvPr id="77" name="Group 76">
            <a:extLst>
              <a:ext uri="{FF2B5EF4-FFF2-40B4-BE49-F238E27FC236}">
                <a16:creationId xmlns:a16="http://schemas.microsoft.com/office/drawing/2014/main" id="{18B7C8EB-F72C-1C35-ED4E-238AEA3A6D1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18230" y="-43336"/>
            <a:ext cx="5163047" cy="2657478"/>
            <a:chOff x="6867015" y="-1"/>
            <a:chExt cx="5324985" cy="3251912"/>
          </a:xfrm>
          <a:solidFill>
            <a:schemeClr val="bg1">
              <a:alpha val="30000"/>
            </a:schemeClr>
          </a:solidFill>
        </p:grpSpPr>
        <p:sp>
          <p:nvSpPr>
            <p:cNvPr id="78" name="Freeform: Shape 77">
              <a:extLst>
                <a:ext uri="{FF2B5EF4-FFF2-40B4-BE49-F238E27FC236}">
                  <a16:creationId xmlns:a16="http://schemas.microsoft.com/office/drawing/2014/main" id="{D6B4A538-AE47-16EE-3AB2-398045340C5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Freeform: Shape 78">
              <a:extLst>
                <a:ext uri="{FF2B5EF4-FFF2-40B4-BE49-F238E27FC236}">
                  <a16:creationId xmlns:a16="http://schemas.microsoft.com/office/drawing/2014/main" id="{4144A572-70F9-2AE9-15F6-1D5EDDD6FB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Freeform: Shape 79">
              <a:extLst>
                <a:ext uri="{FF2B5EF4-FFF2-40B4-BE49-F238E27FC236}">
                  <a16:creationId xmlns:a16="http://schemas.microsoft.com/office/drawing/2014/main" id="{D6597759-568D-E867-3C60-28D058AD2AC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Freeform: Shape 80">
              <a:extLst>
                <a:ext uri="{FF2B5EF4-FFF2-40B4-BE49-F238E27FC236}">
                  <a16:creationId xmlns:a16="http://schemas.microsoft.com/office/drawing/2014/main" id="{56F2DDEF-F3C2-DF70-2C97-2C3F9062794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83" name="Group 82">
            <a:extLst>
              <a:ext uri="{FF2B5EF4-FFF2-40B4-BE49-F238E27FC236}">
                <a16:creationId xmlns:a16="http://schemas.microsoft.com/office/drawing/2014/main" id="{0CB304FE-1038-119E-B477-7EB1843952B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a:off x="9058275" y="4146310"/>
            <a:ext cx="3142400" cy="2716805"/>
            <a:chOff x="-305" y="-4155"/>
            <a:chExt cx="2514948" cy="2174333"/>
          </a:xfrm>
          <a:solidFill>
            <a:schemeClr val="bg1">
              <a:alpha val="30000"/>
            </a:schemeClr>
          </a:solidFill>
        </p:grpSpPr>
        <p:sp>
          <p:nvSpPr>
            <p:cNvPr id="84" name="Freeform: Shape 83">
              <a:extLst>
                <a:ext uri="{FF2B5EF4-FFF2-40B4-BE49-F238E27FC236}">
                  <a16:creationId xmlns:a16="http://schemas.microsoft.com/office/drawing/2014/main" id="{6C9CFB51-2CCF-3516-3351-788A20EBCE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 name="Freeform: Shape 84">
              <a:extLst>
                <a:ext uri="{FF2B5EF4-FFF2-40B4-BE49-F238E27FC236}">
                  <a16:creationId xmlns:a16="http://schemas.microsoft.com/office/drawing/2014/main" id="{E41561B8-DFE8-C8E5-C02B-A6EFB6BC172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Freeform: Shape 85">
              <a:extLst>
                <a:ext uri="{FF2B5EF4-FFF2-40B4-BE49-F238E27FC236}">
                  <a16:creationId xmlns:a16="http://schemas.microsoft.com/office/drawing/2014/main" id="{1D07C2FC-16D3-2F1F-B079-233EE2F1DA5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87" name="Freeform: Shape 86">
              <a:extLst>
                <a:ext uri="{FF2B5EF4-FFF2-40B4-BE49-F238E27FC236}">
                  <a16:creationId xmlns:a16="http://schemas.microsoft.com/office/drawing/2014/main" id="{20863E59-7852-061A-72B0-A810534E7EE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6" name="TextBox 5">
            <a:extLst>
              <a:ext uri="{FF2B5EF4-FFF2-40B4-BE49-F238E27FC236}">
                <a16:creationId xmlns:a16="http://schemas.microsoft.com/office/drawing/2014/main" id="{6D33513A-F547-8617-80CC-91CCC2484BEF}"/>
              </a:ext>
            </a:extLst>
          </p:cNvPr>
          <p:cNvSpPr txBox="1"/>
          <p:nvPr/>
        </p:nvSpPr>
        <p:spPr>
          <a:xfrm>
            <a:off x="396607" y="1751682"/>
            <a:ext cx="6059277" cy="800219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lgn="just">
              <a:buFont typeface="Wingdings" panose="05000000000000000000" pitchFamily="2" charset="2"/>
              <a:buChar char="Ø"/>
            </a:pPr>
            <a:r>
              <a:rPr lang="en-US" sz="2000" dirty="0" err="1"/>
              <a:t>EventMate</a:t>
            </a:r>
            <a:r>
              <a:rPr lang="en-US" sz="2000" dirty="0"/>
              <a:t> is an intelligent event management platform designed to simplify the process of planning, organizing, and scheduling events.</a:t>
            </a:r>
          </a:p>
          <a:p>
            <a:pPr algn="just"/>
            <a:endParaRPr lang="en-US" sz="2000" dirty="0"/>
          </a:p>
          <a:p>
            <a:pPr marL="285750" indent="-285750" algn="just">
              <a:buFont typeface="Wingdings" panose="05000000000000000000" pitchFamily="2" charset="2"/>
              <a:buChar char="Ø"/>
            </a:pPr>
            <a:r>
              <a:rPr lang="en-US" sz="2000" dirty="0"/>
              <a:t>Traditional event management often involves challenges such as manual scheduling, tracking resources, sending timely reminders, and ensuring smooth coordination between participants. </a:t>
            </a:r>
            <a:r>
              <a:rPr lang="en-US" sz="2000" dirty="0" err="1"/>
              <a:t>EventMate</a:t>
            </a:r>
            <a:r>
              <a:rPr lang="en-US" sz="2000" dirty="0"/>
              <a:t> addresses these challenges that automates and optimizes the entire    workflow.</a:t>
            </a:r>
          </a:p>
          <a:p>
            <a:pPr algn="just"/>
            <a:endParaRPr lang="en-US" sz="2000" dirty="0"/>
          </a:p>
          <a:p>
            <a:pPr marL="285750" indent="-285750" algn="just">
              <a:buFont typeface="Wingdings" panose="05000000000000000000" pitchFamily="2" charset="2"/>
              <a:buChar char="Ø"/>
            </a:pPr>
            <a:r>
              <a:rPr lang="en-US" sz="2000" dirty="0"/>
              <a:t>The system enables users to create and manage events, schedule sessions, allocate resources, and send personalized notifications.</a:t>
            </a:r>
          </a:p>
          <a:p>
            <a:endParaRPr lang="en-US" b="1" dirty="0">
              <a:latin typeface="+mj-lt"/>
              <a:ea typeface="Calibri"/>
              <a:cs typeface="Calibri"/>
            </a:endParaRPr>
          </a:p>
          <a:p>
            <a:endParaRPr lang="en-US" sz="3600" b="1" dirty="0">
              <a:latin typeface="+mj-lt"/>
              <a:ea typeface="Calibri"/>
              <a:cs typeface="Calibri"/>
            </a:endParaRPr>
          </a:p>
          <a:p>
            <a:endParaRPr lang="en-US" sz="3600" b="1" dirty="0">
              <a:latin typeface="Calibri"/>
              <a:ea typeface="Calibri"/>
              <a:cs typeface="Calibri"/>
            </a:endParaRPr>
          </a:p>
          <a:p>
            <a:endParaRPr lang="en-US" sz="3600" b="1" dirty="0">
              <a:latin typeface="Calibri"/>
              <a:ea typeface="Calibri"/>
              <a:cs typeface="Calibri"/>
            </a:endParaRPr>
          </a:p>
          <a:p>
            <a:endParaRPr lang="en-US" sz="3600" b="1" dirty="0">
              <a:latin typeface="Calibri"/>
              <a:ea typeface="Calibri"/>
              <a:cs typeface="Calibri"/>
            </a:endParaRPr>
          </a:p>
          <a:p>
            <a:endParaRPr lang="en-US" sz="3600" b="1" dirty="0">
              <a:latin typeface="Calibri"/>
              <a:ea typeface="Calibri"/>
              <a:cs typeface="Calibri"/>
            </a:endParaRPr>
          </a:p>
          <a:p>
            <a:r>
              <a:rPr lang="en-US" sz="3600" b="1" dirty="0">
                <a:latin typeface="Calibri"/>
                <a:ea typeface="Calibri"/>
                <a:cs typeface="Calibri"/>
              </a:rPr>
              <a:t> </a:t>
            </a:r>
          </a:p>
        </p:txBody>
      </p:sp>
      <p:sp>
        <p:nvSpPr>
          <p:cNvPr id="3" name="AutoShape 4">
            <a:extLst>
              <a:ext uri="{FF2B5EF4-FFF2-40B4-BE49-F238E27FC236}">
                <a16:creationId xmlns:a16="http://schemas.microsoft.com/office/drawing/2014/main" id="{F6DC238F-570B-8BB0-B089-7D8529053D79}"/>
              </a:ext>
            </a:extLst>
          </p:cNvPr>
          <p:cNvSpPr>
            <a:spLocks noChangeAspect="1" noChangeArrowheads="1"/>
          </p:cNvSpPr>
          <p:nvPr/>
        </p:nvSpPr>
        <p:spPr bwMode="auto">
          <a:xfrm>
            <a:off x="5943600" y="3276600"/>
            <a:ext cx="3141258" cy="3141258"/>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4" name="AutoShape 6">
            <a:extLst>
              <a:ext uri="{FF2B5EF4-FFF2-40B4-BE49-F238E27FC236}">
                <a16:creationId xmlns:a16="http://schemas.microsoft.com/office/drawing/2014/main" id="{4AE16BC8-1060-5DBE-CBD2-A8A748C3024A}"/>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5" name="AutoShape 8">
            <a:extLst>
              <a:ext uri="{FF2B5EF4-FFF2-40B4-BE49-F238E27FC236}">
                <a16:creationId xmlns:a16="http://schemas.microsoft.com/office/drawing/2014/main" id="{3F6A2332-3923-2899-0E03-B318B2070A89}"/>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1034" name="Picture 10">
            <a:extLst>
              <a:ext uri="{FF2B5EF4-FFF2-40B4-BE49-F238E27FC236}">
                <a16:creationId xmlns:a16="http://schemas.microsoft.com/office/drawing/2014/main" id="{E6E26BED-12CE-5B28-E52A-A5257EADB00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08369" y="2220162"/>
            <a:ext cx="5230840" cy="287058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158135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065E6E1-54B3-E983-D5ED-5A69286271DE}"/>
            </a:ext>
          </a:extLst>
        </p:cNvPr>
        <p:cNvGrpSpPr/>
        <p:nvPr/>
      </p:nvGrpSpPr>
      <p:grpSpPr>
        <a:xfrm>
          <a:off x="0" y="0"/>
          <a:ext cx="0" cy="0"/>
          <a:chOff x="0" y="0"/>
          <a:chExt cx="0" cy="0"/>
        </a:xfrm>
      </p:grpSpPr>
      <p:sp useBgFill="1">
        <p:nvSpPr>
          <p:cNvPr id="71" name="Rectangle 70">
            <a:extLst>
              <a:ext uri="{FF2B5EF4-FFF2-40B4-BE49-F238E27FC236}">
                <a16:creationId xmlns:a16="http://schemas.microsoft.com/office/drawing/2014/main" id="{DD3AF6E3-F6FC-81A5-AF3D-F254EFB2FE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Rectangle 72">
            <a:extLst>
              <a:ext uri="{FF2B5EF4-FFF2-40B4-BE49-F238E27FC236}">
                <a16:creationId xmlns:a16="http://schemas.microsoft.com/office/drawing/2014/main" id="{51386F1F-7A92-22D9-8118-742FFA9300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75" name="Rectangle 74">
            <a:extLst>
              <a:ext uri="{FF2B5EF4-FFF2-40B4-BE49-F238E27FC236}">
                <a16:creationId xmlns:a16="http://schemas.microsoft.com/office/drawing/2014/main" id="{26189E68-97B1-5C97-5872-1089C2A7FD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gradFill flip="none" rotWithShape="1">
            <a:gsLst>
              <a:gs pos="16000">
                <a:schemeClr val="accent6">
                  <a:alpha val="20000"/>
                </a:schemeClr>
              </a:gs>
              <a:gs pos="85000">
                <a:schemeClr val="accent1">
                  <a:alpha val="4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20A52B7-AC61-3167-FC0E-BB03A1382850}"/>
              </a:ext>
            </a:extLst>
          </p:cNvPr>
          <p:cNvSpPr>
            <a:spLocks noGrp="1"/>
          </p:cNvSpPr>
          <p:nvPr>
            <p:ph type="ctrTitle"/>
          </p:nvPr>
        </p:nvSpPr>
        <p:spPr>
          <a:xfrm>
            <a:off x="1288974" y="722128"/>
            <a:ext cx="9044848" cy="709589"/>
          </a:xfrm>
          <a:noFill/>
          <a:ln>
            <a:noFill/>
          </a:ln>
        </p:spPr>
        <p:txBody>
          <a:bodyPr anchor="b">
            <a:noAutofit/>
          </a:bodyPr>
          <a:lstStyle/>
          <a:p>
            <a:r>
              <a:rPr lang="en-US" sz="4800" b="1" u="sng" dirty="0">
                <a:latin typeface="Calibri"/>
                <a:ea typeface="+mj-lt"/>
                <a:cs typeface="+mj-lt"/>
                <a:hlinkClick r:id="" action="ppaction://noaction">
                  <a:extLst>
                    <a:ext uri="{A12FA001-AC4F-418D-AE19-62706E023703}">
                      <ahyp:hlinkClr xmlns:ahyp="http://schemas.microsoft.com/office/drawing/2018/hyperlinkcolor" val="tx"/>
                    </a:ext>
                  </a:extLst>
                </a:hlinkClick>
              </a:rPr>
              <a:t>Project Description  </a:t>
            </a:r>
            <a:endParaRPr lang="en-US" sz="4800" u="sng" dirty="0">
              <a:latin typeface="Calibri"/>
              <a:ea typeface="Calibri"/>
              <a:cs typeface="Calibri"/>
              <a:hlinkClick r:id="" action="ppaction://noaction">
                <a:extLst>
                  <a:ext uri="{A12FA001-AC4F-418D-AE19-62706E023703}">
                    <ahyp:hlinkClr xmlns:ahyp="http://schemas.microsoft.com/office/drawing/2018/hyperlinkcolor" val="tx"/>
                  </a:ext>
                </a:extLst>
              </a:hlinkClick>
            </a:endParaRPr>
          </a:p>
        </p:txBody>
      </p:sp>
      <p:grpSp>
        <p:nvGrpSpPr>
          <p:cNvPr id="77" name="Group 76">
            <a:extLst>
              <a:ext uri="{FF2B5EF4-FFF2-40B4-BE49-F238E27FC236}">
                <a16:creationId xmlns:a16="http://schemas.microsoft.com/office/drawing/2014/main" id="{66808F01-AF78-83AB-11E4-E643C3E90D7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18230" y="-43336"/>
            <a:ext cx="5163047" cy="2657478"/>
            <a:chOff x="6867015" y="-1"/>
            <a:chExt cx="5324985" cy="3251912"/>
          </a:xfrm>
          <a:solidFill>
            <a:schemeClr val="bg1">
              <a:alpha val="30000"/>
            </a:schemeClr>
          </a:solidFill>
        </p:grpSpPr>
        <p:sp>
          <p:nvSpPr>
            <p:cNvPr id="78" name="Freeform: Shape 77">
              <a:extLst>
                <a:ext uri="{FF2B5EF4-FFF2-40B4-BE49-F238E27FC236}">
                  <a16:creationId xmlns:a16="http://schemas.microsoft.com/office/drawing/2014/main" id="{56D02857-1B7C-0A52-F55F-0A9E5EF120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Freeform: Shape 78">
              <a:extLst>
                <a:ext uri="{FF2B5EF4-FFF2-40B4-BE49-F238E27FC236}">
                  <a16:creationId xmlns:a16="http://schemas.microsoft.com/office/drawing/2014/main" id="{55BCB637-F343-F061-685D-C66FAC20A7A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Freeform: Shape 79">
              <a:extLst>
                <a:ext uri="{FF2B5EF4-FFF2-40B4-BE49-F238E27FC236}">
                  <a16:creationId xmlns:a16="http://schemas.microsoft.com/office/drawing/2014/main" id="{DAC13684-D89E-4A88-4860-48BABE3871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Freeform: Shape 80">
              <a:extLst>
                <a:ext uri="{FF2B5EF4-FFF2-40B4-BE49-F238E27FC236}">
                  <a16:creationId xmlns:a16="http://schemas.microsoft.com/office/drawing/2014/main" id="{89FBA91D-CE8D-DAE1-81EB-173D71DFAB0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83" name="Group 82">
            <a:extLst>
              <a:ext uri="{FF2B5EF4-FFF2-40B4-BE49-F238E27FC236}">
                <a16:creationId xmlns:a16="http://schemas.microsoft.com/office/drawing/2014/main" id="{410AD17F-F3A2-0155-B918-EE512460A3E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a:off x="9058275" y="4146310"/>
            <a:ext cx="3142400" cy="2716805"/>
            <a:chOff x="-305" y="-4155"/>
            <a:chExt cx="2514948" cy="2174333"/>
          </a:xfrm>
          <a:solidFill>
            <a:schemeClr val="bg1">
              <a:alpha val="30000"/>
            </a:schemeClr>
          </a:solidFill>
        </p:grpSpPr>
        <p:sp>
          <p:nvSpPr>
            <p:cNvPr id="84" name="Freeform: Shape 83">
              <a:extLst>
                <a:ext uri="{FF2B5EF4-FFF2-40B4-BE49-F238E27FC236}">
                  <a16:creationId xmlns:a16="http://schemas.microsoft.com/office/drawing/2014/main" id="{069F3F0D-4037-17B7-F74B-3080BA7506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 name="Freeform: Shape 84">
              <a:extLst>
                <a:ext uri="{FF2B5EF4-FFF2-40B4-BE49-F238E27FC236}">
                  <a16:creationId xmlns:a16="http://schemas.microsoft.com/office/drawing/2014/main" id="{CCE778C0-5710-917F-3011-9B66F94A36B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Freeform: Shape 85">
              <a:extLst>
                <a:ext uri="{FF2B5EF4-FFF2-40B4-BE49-F238E27FC236}">
                  <a16:creationId xmlns:a16="http://schemas.microsoft.com/office/drawing/2014/main" id="{C35FAF9E-1965-687E-28E6-A380E2E0B75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87" name="Freeform: Shape 86">
              <a:extLst>
                <a:ext uri="{FF2B5EF4-FFF2-40B4-BE49-F238E27FC236}">
                  <a16:creationId xmlns:a16="http://schemas.microsoft.com/office/drawing/2014/main" id="{E48DE8E7-85F0-CED0-9ABE-1D3FB48AB2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6" name="TextBox 5">
            <a:extLst>
              <a:ext uri="{FF2B5EF4-FFF2-40B4-BE49-F238E27FC236}">
                <a16:creationId xmlns:a16="http://schemas.microsoft.com/office/drawing/2014/main" id="{558B25F1-CD01-7699-5641-A091A73403F3}"/>
              </a:ext>
            </a:extLst>
          </p:cNvPr>
          <p:cNvSpPr txBox="1"/>
          <p:nvPr/>
        </p:nvSpPr>
        <p:spPr>
          <a:xfrm>
            <a:off x="914400" y="2153845"/>
            <a:ext cx="9727894" cy="803296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buFont typeface="Wingdings" panose="05000000000000000000" pitchFamily="2" charset="2"/>
              <a:buChar char="Ø"/>
            </a:pPr>
            <a:r>
              <a:rPr lang="en-US" sz="2000" dirty="0" err="1"/>
              <a:t>EventMate</a:t>
            </a:r>
            <a:r>
              <a:rPr lang="en-US" sz="2000" dirty="0"/>
              <a:t> is a smart event management system designed to simplify the entire process of planning, scheduling, and managing events. The project integrates a </a:t>
            </a:r>
            <a:r>
              <a:rPr lang="en-US" sz="2000" b="1" dirty="0"/>
              <a:t>React-based frontend</a:t>
            </a:r>
            <a:r>
              <a:rPr lang="en-US" sz="2000" dirty="0"/>
              <a:t> with a </a:t>
            </a:r>
            <a:r>
              <a:rPr lang="en-US" sz="2000" b="1" dirty="0"/>
              <a:t>Spring Boot backend</a:t>
            </a:r>
            <a:r>
              <a:rPr lang="en-US" sz="2000" dirty="0"/>
              <a:t>, providing a seamless and secure platform for both users and organizers.</a:t>
            </a:r>
          </a:p>
          <a:p>
            <a:endParaRPr lang="en-US" sz="2000" b="1" dirty="0"/>
          </a:p>
          <a:p>
            <a:pPr marL="342900" indent="-342900">
              <a:buFont typeface="Wingdings" panose="05000000000000000000" pitchFamily="2" charset="2"/>
              <a:buChar char="Ø"/>
            </a:pPr>
            <a:r>
              <a:rPr lang="en-US" sz="2000" b="1" dirty="0"/>
              <a:t>Frontend (React)</a:t>
            </a:r>
            <a:r>
              <a:rPr lang="en-US" sz="2000" dirty="0"/>
              <a:t> – Provides an interactive UI for users to register, log in, create and manage events.</a:t>
            </a:r>
          </a:p>
          <a:p>
            <a:pPr marL="342900" indent="-342900">
              <a:buFont typeface="Wingdings" panose="05000000000000000000" pitchFamily="2" charset="2"/>
              <a:buChar char="Ø"/>
            </a:pPr>
            <a:endParaRPr lang="en-US" sz="2000" dirty="0"/>
          </a:p>
          <a:p>
            <a:pPr marL="342900" indent="-342900">
              <a:buFont typeface="Wingdings" panose="05000000000000000000" pitchFamily="2" charset="2"/>
              <a:buChar char="Ø"/>
            </a:pPr>
            <a:r>
              <a:rPr lang="en-US" sz="2000" b="1" dirty="0"/>
              <a:t>Backend (Spring Boot + Java)</a:t>
            </a:r>
            <a:r>
              <a:rPr lang="en-US" sz="2000" dirty="0"/>
              <a:t> – Manages business logic, user authentication, and database operations.</a:t>
            </a:r>
          </a:p>
          <a:p>
            <a:pPr marL="342900" indent="-342900">
              <a:buFont typeface="Wingdings" panose="05000000000000000000" pitchFamily="2" charset="2"/>
              <a:buChar char="Ø"/>
            </a:pPr>
            <a:endParaRPr lang="en-US" sz="2000" dirty="0"/>
          </a:p>
          <a:p>
            <a:pPr marL="342900" indent="-342900">
              <a:buFont typeface="Wingdings" panose="05000000000000000000" pitchFamily="2" charset="2"/>
              <a:buChar char="Ø"/>
            </a:pPr>
            <a:r>
              <a:rPr lang="en-US" sz="2000" b="1" dirty="0"/>
              <a:t>Database (MySQL)</a:t>
            </a:r>
            <a:r>
              <a:rPr lang="en-US" sz="2000" dirty="0"/>
              <a:t> – Stores user information, events, and scheduling data.</a:t>
            </a:r>
          </a:p>
          <a:p>
            <a:pPr marL="342900" indent="-342900">
              <a:buFont typeface="Wingdings" panose="05000000000000000000" pitchFamily="2" charset="2"/>
              <a:buChar char="Ø"/>
            </a:pPr>
            <a:endParaRPr lang="en-US" sz="2000" b="1" dirty="0"/>
          </a:p>
          <a:p>
            <a:pPr marL="342900" indent="-342900">
              <a:buFont typeface="Wingdings" panose="05000000000000000000" pitchFamily="2" charset="2"/>
              <a:buChar char="Ø"/>
            </a:pPr>
            <a:r>
              <a:rPr lang="en-US" sz="2000" b="1" dirty="0"/>
              <a:t>Build Tool (Maven)</a:t>
            </a:r>
            <a:r>
              <a:rPr lang="en-US" sz="2000" dirty="0"/>
              <a:t> – Handles dependency management and project build process.</a:t>
            </a:r>
          </a:p>
          <a:p>
            <a:endParaRPr lang="en-US" sz="2000" b="1" dirty="0">
              <a:ea typeface="Calibri"/>
              <a:cs typeface="Calibri"/>
            </a:endParaRPr>
          </a:p>
          <a:p>
            <a:endParaRPr lang="en-US" sz="3600" b="1" dirty="0">
              <a:latin typeface="+mj-lt"/>
              <a:ea typeface="Calibri"/>
              <a:cs typeface="Calibri"/>
            </a:endParaRPr>
          </a:p>
          <a:p>
            <a:endParaRPr lang="en-US" sz="3600" b="1" dirty="0">
              <a:latin typeface="Calibri"/>
              <a:ea typeface="Calibri"/>
              <a:cs typeface="Calibri"/>
            </a:endParaRPr>
          </a:p>
          <a:p>
            <a:endParaRPr lang="en-US" sz="3600" b="1" dirty="0">
              <a:latin typeface="Calibri"/>
              <a:ea typeface="Calibri"/>
              <a:cs typeface="Calibri"/>
            </a:endParaRPr>
          </a:p>
          <a:p>
            <a:endParaRPr lang="en-US" sz="3600" b="1" dirty="0">
              <a:latin typeface="Calibri"/>
              <a:ea typeface="Calibri"/>
              <a:cs typeface="Calibri"/>
            </a:endParaRPr>
          </a:p>
          <a:p>
            <a:endParaRPr lang="en-US" sz="3600" b="1" dirty="0">
              <a:latin typeface="Calibri"/>
              <a:ea typeface="Calibri"/>
              <a:cs typeface="Calibri"/>
            </a:endParaRPr>
          </a:p>
          <a:p>
            <a:r>
              <a:rPr lang="en-US" sz="3600" b="1" dirty="0">
                <a:latin typeface="Calibri"/>
                <a:ea typeface="Calibri"/>
                <a:cs typeface="Calibri"/>
              </a:rPr>
              <a:t> </a:t>
            </a:r>
          </a:p>
        </p:txBody>
      </p:sp>
    </p:spTree>
    <p:extLst>
      <p:ext uri="{BB962C8B-B14F-4D97-AF65-F5344CB8AC3E}">
        <p14:creationId xmlns:p14="http://schemas.microsoft.com/office/powerpoint/2010/main" val="33241025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EC1337E-CFED-6F18-F310-C6A7D5DC63C4}"/>
            </a:ext>
          </a:extLst>
        </p:cNvPr>
        <p:cNvGrpSpPr/>
        <p:nvPr/>
      </p:nvGrpSpPr>
      <p:grpSpPr>
        <a:xfrm>
          <a:off x="0" y="0"/>
          <a:ext cx="0" cy="0"/>
          <a:chOff x="0" y="0"/>
          <a:chExt cx="0" cy="0"/>
        </a:xfrm>
      </p:grpSpPr>
      <p:sp useBgFill="1">
        <p:nvSpPr>
          <p:cNvPr id="71" name="Rectangle 70">
            <a:extLst>
              <a:ext uri="{FF2B5EF4-FFF2-40B4-BE49-F238E27FC236}">
                <a16:creationId xmlns:a16="http://schemas.microsoft.com/office/drawing/2014/main" id="{35855DF7-DD84-5B6C-2F15-0E408CCE55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Rectangle 72">
            <a:extLst>
              <a:ext uri="{FF2B5EF4-FFF2-40B4-BE49-F238E27FC236}">
                <a16:creationId xmlns:a16="http://schemas.microsoft.com/office/drawing/2014/main" id="{154CEF95-22C1-8249-31CE-D695C29187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75" name="Rectangle 74">
            <a:extLst>
              <a:ext uri="{FF2B5EF4-FFF2-40B4-BE49-F238E27FC236}">
                <a16:creationId xmlns:a16="http://schemas.microsoft.com/office/drawing/2014/main" id="{6E1DDBF0-E876-A112-1C7C-CFB29A6B17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gradFill flip="none" rotWithShape="1">
            <a:gsLst>
              <a:gs pos="16000">
                <a:schemeClr val="accent6">
                  <a:alpha val="20000"/>
                </a:schemeClr>
              </a:gs>
              <a:gs pos="85000">
                <a:schemeClr val="accent1">
                  <a:alpha val="4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DAFCD4B-1258-B41F-42F8-D9E8C834812D}"/>
              </a:ext>
            </a:extLst>
          </p:cNvPr>
          <p:cNvSpPr>
            <a:spLocks noGrp="1"/>
          </p:cNvSpPr>
          <p:nvPr>
            <p:ph type="ctrTitle"/>
          </p:nvPr>
        </p:nvSpPr>
        <p:spPr>
          <a:xfrm>
            <a:off x="1288974" y="722128"/>
            <a:ext cx="9044848" cy="709589"/>
          </a:xfrm>
          <a:noFill/>
          <a:ln>
            <a:noFill/>
          </a:ln>
        </p:spPr>
        <p:txBody>
          <a:bodyPr anchor="b">
            <a:noAutofit/>
          </a:bodyPr>
          <a:lstStyle/>
          <a:p>
            <a:r>
              <a:rPr lang="en-US" sz="4800" b="1" u="sng" dirty="0">
                <a:latin typeface="Calibri"/>
                <a:ea typeface="+mj-lt"/>
                <a:cs typeface="+mj-lt"/>
                <a:hlinkClick r:id="" action="ppaction://noaction">
                  <a:extLst>
                    <a:ext uri="{A12FA001-AC4F-418D-AE19-62706E023703}">
                      <ahyp:hlinkClr xmlns:ahyp="http://schemas.microsoft.com/office/drawing/2018/hyperlinkcolor" val="tx"/>
                    </a:ext>
                  </a:extLst>
                </a:hlinkClick>
              </a:rPr>
              <a:t>Frontend and Backend  </a:t>
            </a:r>
            <a:endParaRPr lang="en-US" sz="4800" u="sng" dirty="0">
              <a:latin typeface="Calibri"/>
              <a:ea typeface="Calibri"/>
              <a:cs typeface="Calibri"/>
              <a:hlinkClick r:id="" action="ppaction://noaction">
                <a:extLst>
                  <a:ext uri="{A12FA001-AC4F-418D-AE19-62706E023703}">
                    <ahyp:hlinkClr xmlns:ahyp="http://schemas.microsoft.com/office/drawing/2018/hyperlinkcolor" val="tx"/>
                  </a:ext>
                </a:extLst>
              </a:hlinkClick>
            </a:endParaRPr>
          </a:p>
        </p:txBody>
      </p:sp>
      <p:grpSp>
        <p:nvGrpSpPr>
          <p:cNvPr id="77" name="Group 76">
            <a:extLst>
              <a:ext uri="{FF2B5EF4-FFF2-40B4-BE49-F238E27FC236}">
                <a16:creationId xmlns:a16="http://schemas.microsoft.com/office/drawing/2014/main" id="{1A9E889E-8CDC-94FE-842C-454A0FEEADF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18230" y="-43336"/>
            <a:ext cx="5163047" cy="2657478"/>
            <a:chOff x="6867015" y="-1"/>
            <a:chExt cx="5324985" cy="3251912"/>
          </a:xfrm>
          <a:solidFill>
            <a:schemeClr val="bg1">
              <a:alpha val="30000"/>
            </a:schemeClr>
          </a:solidFill>
        </p:grpSpPr>
        <p:sp>
          <p:nvSpPr>
            <p:cNvPr id="78" name="Freeform: Shape 77">
              <a:extLst>
                <a:ext uri="{FF2B5EF4-FFF2-40B4-BE49-F238E27FC236}">
                  <a16:creationId xmlns:a16="http://schemas.microsoft.com/office/drawing/2014/main" id="{64D2BFCF-D112-34F7-1E70-65CDC5F661B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Freeform: Shape 78">
              <a:extLst>
                <a:ext uri="{FF2B5EF4-FFF2-40B4-BE49-F238E27FC236}">
                  <a16:creationId xmlns:a16="http://schemas.microsoft.com/office/drawing/2014/main" id="{10A64273-27AE-3CB7-9A2B-2EAE16113A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Freeform: Shape 79">
              <a:extLst>
                <a:ext uri="{FF2B5EF4-FFF2-40B4-BE49-F238E27FC236}">
                  <a16:creationId xmlns:a16="http://schemas.microsoft.com/office/drawing/2014/main" id="{28044ADB-8B52-C34E-973A-B4BD047B9A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Freeform: Shape 80">
              <a:extLst>
                <a:ext uri="{FF2B5EF4-FFF2-40B4-BE49-F238E27FC236}">
                  <a16:creationId xmlns:a16="http://schemas.microsoft.com/office/drawing/2014/main" id="{A132C8E4-953B-EA98-2D9E-348EB35AD3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83" name="Group 82">
            <a:extLst>
              <a:ext uri="{FF2B5EF4-FFF2-40B4-BE49-F238E27FC236}">
                <a16:creationId xmlns:a16="http://schemas.microsoft.com/office/drawing/2014/main" id="{E0B50928-50E6-7A2E-3C47-4BE3A8FEC68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a:off x="9058275" y="4146310"/>
            <a:ext cx="3142400" cy="2716805"/>
            <a:chOff x="-305" y="-4155"/>
            <a:chExt cx="2514948" cy="2174333"/>
          </a:xfrm>
          <a:solidFill>
            <a:schemeClr val="bg1">
              <a:alpha val="30000"/>
            </a:schemeClr>
          </a:solidFill>
        </p:grpSpPr>
        <p:sp>
          <p:nvSpPr>
            <p:cNvPr id="84" name="Freeform: Shape 83">
              <a:extLst>
                <a:ext uri="{FF2B5EF4-FFF2-40B4-BE49-F238E27FC236}">
                  <a16:creationId xmlns:a16="http://schemas.microsoft.com/office/drawing/2014/main" id="{6DBA0A46-CA91-F375-F07B-6D26C0E7A6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 name="Freeform: Shape 84">
              <a:extLst>
                <a:ext uri="{FF2B5EF4-FFF2-40B4-BE49-F238E27FC236}">
                  <a16:creationId xmlns:a16="http://schemas.microsoft.com/office/drawing/2014/main" id="{01DC62BC-FCB8-50F2-BE04-5AA87592AF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Freeform: Shape 85">
              <a:extLst>
                <a:ext uri="{FF2B5EF4-FFF2-40B4-BE49-F238E27FC236}">
                  <a16:creationId xmlns:a16="http://schemas.microsoft.com/office/drawing/2014/main" id="{1C777B29-6E46-31D6-1956-723DEEB7036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87" name="Freeform: Shape 86">
              <a:extLst>
                <a:ext uri="{FF2B5EF4-FFF2-40B4-BE49-F238E27FC236}">
                  <a16:creationId xmlns:a16="http://schemas.microsoft.com/office/drawing/2014/main" id="{F4545543-CA61-3DB4-230F-A74C454951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6" name="TextBox 5">
            <a:extLst>
              <a:ext uri="{FF2B5EF4-FFF2-40B4-BE49-F238E27FC236}">
                <a16:creationId xmlns:a16="http://schemas.microsoft.com/office/drawing/2014/main" id="{DFD6AC16-E41A-6D03-FCB0-298A3F312CEB}"/>
              </a:ext>
            </a:extLst>
          </p:cNvPr>
          <p:cNvSpPr txBox="1"/>
          <p:nvPr/>
        </p:nvSpPr>
        <p:spPr>
          <a:xfrm>
            <a:off x="300048" y="1639666"/>
            <a:ext cx="7513504" cy="692497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buFont typeface="Wingdings" panose="05000000000000000000" pitchFamily="2" charset="2"/>
              <a:buChar char="Ø"/>
            </a:pPr>
            <a:r>
              <a:rPr lang="en-US" sz="2000" dirty="0"/>
              <a:t>The frontend of </a:t>
            </a:r>
            <a:r>
              <a:rPr lang="en-US" sz="2000" dirty="0" err="1"/>
              <a:t>EventMate</a:t>
            </a:r>
            <a:r>
              <a:rPr lang="en-US" sz="2000" dirty="0"/>
              <a:t> is developed using </a:t>
            </a:r>
            <a:r>
              <a:rPr lang="en-US" sz="2000" b="1" dirty="0"/>
              <a:t>React.js</a:t>
            </a:r>
            <a:r>
              <a:rPr lang="en-US" sz="2000" dirty="0"/>
              <a:t>, a popular JavaScript library for building dynamic and interactive user interfaces. It leverages </a:t>
            </a:r>
            <a:r>
              <a:rPr lang="en-US" sz="2000" b="1" dirty="0"/>
              <a:t>reusable components</a:t>
            </a:r>
            <a:r>
              <a:rPr lang="en-US" sz="2000" dirty="0"/>
              <a:t> such as event cards, forms, and buttons, which help maintain a consistent look and feel throughout the application. </a:t>
            </a:r>
          </a:p>
          <a:p>
            <a:pPr marL="342900" indent="-342900">
              <a:buFont typeface="Wingdings" panose="05000000000000000000" pitchFamily="2" charset="2"/>
              <a:buChar char="Ø"/>
            </a:pPr>
            <a:endParaRPr lang="en-US" sz="2000" dirty="0"/>
          </a:p>
          <a:p>
            <a:pPr marL="342900" indent="-342900">
              <a:buFont typeface="Wingdings" panose="05000000000000000000" pitchFamily="2" charset="2"/>
              <a:buChar char="Ø"/>
            </a:pPr>
            <a:r>
              <a:rPr lang="en-US" sz="2000" dirty="0"/>
              <a:t>React.js enables </a:t>
            </a:r>
            <a:r>
              <a:rPr lang="en-US" sz="2000" b="1" dirty="0"/>
              <a:t>real-time updates</a:t>
            </a:r>
            <a:r>
              <a:rPr lang="en-US" sz="2000" dirty="0"/>
              <a:t> on the page without full reloads, allowing users to smoothly browse events, book tickets, and manage their profiles. The frontend communicates seamlessly with the backend to </a:t>
            </a:r>
            <a:r>
              <a:rPr lang="en-US" sz="2000" b="1" dirty="0"/>
              <a:t>fetch and display event and user data</a:t>
            </a:r>
            <a:r>
              <a:rPr lang="en-US" sz="2000" dirty="0"/>
              <a:t>, ensuring efficient performance</a:t>
            </a:r>
          </a:p>
          <a:p>
            <a:pPr marL="342900" indent="-342900">
              <a:buFont typeface="Wingdings" panose="05000000000000000000" pitchFamily="2" charset="2"/>
              <a:buChar char="Ø"/>
            </a:pPr>
            <a:endParaRPr lang="en-US" sz="2000" dirty="0"/>
          </a:p>
          <a:p>
            <a:pPr marL="342900" indent="-342900">
              <a:buFont typeface="Wingdings" panose="05000000000000000000" pitchFamily="2" charset="2"/>
              <a:buChar char="Ø"/>
            </a:pPr>
            <a:r>
              <a:rPr lang="en-US" sz="2000" dirty="0"/>
              <a:t>Additionally, the application is designed to be </a:t>
            </a:r>
            <a:r>
              <a:rPr lang="en-US" sz="2000" b="1" dirty="0"/>
              <a:t>responsive</a:t>
            </a:r>
            <a:r>
              <a:rPr lang="en-US" sz="2000" dirty="0"/>
              <a:t>, providing an optimal experience across desktops, tablets, and mobile devices.</a:t>
            </a:r>
            <a:endParaRPr lang="en-US" sz="2000" b="1" dirty="0">
              <a:ea typeface="Calibri"/>
              <a:cs typeface="Calibri"/>
            </a:endParaRPr>
          </a:p>
          <a:p>
            <a:endParaRPr lang="en-US" sz="3600" b="1" dirty="0">
              <a:latin typeface="Calibri"/>
              <a:ea typeface="Calibri"/>
              <a:cs typeface="Calibri"/>
            </a:endParaRPr>
          </a:p>
          <a:p>
            <a:endParaRPr lang="en-US" sz="3600" b="1" dirty="0">
              <a:latin typeface="Calibri"/>
              <a:ea typeface="Calibri"/>
              <a:cs typeface="Calibri"/>
            </a:endParaRPr>
          </a:p>
          <a:p>
            <a:endParaRPr lang="en-US" sz="3600" b="1" dirty="0">
              <a:latin typeface="Calibri"/>
              <a:ea typeface="Calibri"/>
              <a:cs typeface="Calibri"/>
            </a:endParaRPr>
          </a:p>
          <a:p>
            <a:r>
              <a:rPr lang="en-US" sz="3600" b="1" dirty="0">
                <a:latin typeface="Calibri"/>
                <a:ea typeface="Calibri"/>
                <a:cs typeface="Calibri"/>
              </a:rPr>
              <a:t> </a:t>
            </a:r>
          </a:p>
        </p:txBody>
      </p:sp>
      <p:pic>
        <p:nvPicPr>
          <p:cNvPr id="2050" name="Picture 2">
            <a:extLst>
              <a:ext uri="{FF2B5EF4-FFF2-40B4-BE49-F238E27FC236}">
                <a16:creationId xmlns:a16="http://schemas.microsoft.com/office/drawing/2014/main" id="{16F12EC5-4993-49A9-E156-09F4B1ACDF2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982" y="2214131"/>
            <a:ext cx="4419834" cy="220991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258981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9A4E3AE-A69E-1366-AD76-0CF5B1DFC1E2}"/>
            </a:ext>
          </a:extLst>
        </p:cNvPr>
        <p:cNvGrpSpPr/>
        <p:nvPr/>
      </p:nvGrpSpPr>
      <p:grpSpPr>
        <a:xfrm>
          <a:off x="0" y="0"/>
          <a:ext cx="0" cy="0"/>
          <a:chOff x="0" y="0"/>
          <a:chExt cx="0" cy="0"/>
        </a:xfrm>
      </p:grpSpPr>
      <p:sp useBgFill="1">
        <p:nvSpPr>
          <p:cNvPr id="71" name="Rectangle 70">
            <a:extLst>
              <a:ext uri="{FF2B5EF4-FFF2-40B4-BE49-F238E27FC236}">
                <a16:creationId xmlns:a16="http://schemas.microsoft.com/office/drawing/2014/main" id="{C71FD49A-BA69-8C91-61AA-191054F828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Rectangle 72">
            <a:extLst>
              <a:ext uri="{FF2B5EF4-FFF2-40B4-BE49-F238E27FC236}">
                <a16:creationId xmlns:a16="http://schemas.microsoft.com/office/drawing/2014/main" id="{71D6318C-1D2D-91A1-29F9-FBA53489EC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75" name="Rectangle 74">
            <a:extLst>
              <a:ext uri="{FF2B5EF4-FFF2-40B4-BE49-F238E27FC236}">
                <a16:creationId xmlns:a16="http://schemas.microsoft.com/office/drawing/2014/main" id="{E09FFAD2-475E-CA3F-405B-61ED178A28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gradFill flip="none" rotWithShape="1">
            <a:gsLst>
              <a:gs pos="16000">
                <a:schemeClr val="accent6">
                  <a:alpha val="20000"/>
                </a:schemeClr>
              </a:gs>
              <a:gs pos="85000">
                <a:schemeClr val="accent1">
                  <a:alpha val="4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2EBDD4A-3396-7612-18C1-D103432BB81F}"/>
              </a:ext>
            </a:extLst>
          </p:cNvPr>
          <p:cNvSpPr>
            <a:spLocks noGrp="1"/>
          </p:cNvSpPr>
          <p:nvPr>
            <p:ph type="ctrTitle"/>
          </p:nvPr>
        </p:nvSpPr>
        <p:spPr>
          <a:xfrm>
            <a:off x="1288974" y="722128"/>
            <a:ext cx="9044848" cy="709589"/>
          </a:xfrm>
          <a:noFill/>
          <a:ln>
            <a:noFill/>
          </a:ln>
        </p:spPr>
        <p:txBody>
          <a:bodyPr anchor="b">
            <a:noAutofit/>
          </a:bodyPr>
          <a:lstStyle/>
          <a:p>
            <a:r>
              <a:rPr lang="en-US" sz="4800" b="1" u="sng" dirty="0">
                <a:latin typeface="Calibri"/>
                <a:ea typeface="+mj-lt"/>
                <a:cs typeface="+mj-lt"/>
                <a:hlinkClick r:id="" action="ppaction://noaction">
                  <a:extLst>
                    <a:ext uri="{A12FA001-AC4F-418D-AE19-62706E023703}">
                      <ahyp:hlinkClr xmlns:ahyp="http://schemas.microsoft.com/office/drawing/2018/hyperlinkcolor" val="tx"/>
                    </a:ext>
                  </a:extLst>
                </a:hlinkClick>
              </a:rPr>
              <a:t>Objective of Project</a:t>
            </a:r>
            <a:endParaRPr lang="en-US" sz="4800" u="sng" dirty="0">
              <a:latin typeface="Calibri"/>
              <a:ea typeface="Calibri"/>
              <a:cs typeface="Calibri"/>
              <a:hlinkClick r:id="" action="ppaction://noaction">
                <a:extLst>
                  <a:ext uri="{A12FA001-AC4F-418D-AE19-62706E023703}">
                    <ahyp:hlinkClr xmlns:ahyp="http://schemas.microsoft.com/office/drawing/2018/hyperlinkcolor" val="tx"/>
                  </a:ext>
                </a:extLst>
              </a:hlinkClick>
            </a:endParaRPr>
          </a:p>
        </p:txBody>
      </p:sp>
      <p:grpSp>
        <p:nvGrpSpPr>
          <p:cNvPr id="77" name="Group 76">
            <a:extLst>
              <a:ext uri="{FF2B5EF4-FFF2-40B4-BE49-F238E27FC236}">
                <a16:creationId xmlns:a16="http://schemas.microsoft.com/office/drawing/2014/main" id="{ACC5AA76-945C-DC00-464D-C6FC1DBEBEE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18230" y="-43336"/>
            <a:ext cx="5163047" cy="2657478"/>
            <a:chOff x="6867015" y="-1"/>
            <a:chExt cx="5324985" cy="3251912"/>
          </a:xfrm>
          <a:solidFill>
            <a:schemeClr val="bg1">
              <a:alpha val="30000"/>
            </a:schemeClr>
          </a:solidFill>
        </p:grpSpPr>
        <p:sp>
          <p:nvSpPr>
            <p:cNvPr id="78" name="Freeform: Shape 77">
              <a:extLst>
                <a:ext uri="{FF2B5EF4-FFF2-40B4-BE49-F238E27FC236}">
                  <a16:creationId xmlns:a16="http://schemas.microsoft.com/office/drawing/2014/main" id="{11EFDADC-7025-88B4-4DEC-17E0C3DD623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Freeform: Shape 78">
              <a:extLst>
                <a:ext uri="{FF2B5EF4-FFF2-40B4-BE49-F238E27FC236}">
                  <a16:creationId xmlns:a16="http://schemas.microsoft.com/office/drawing/2014/main" id="{5139AA46-E368-41D6-799C-4F7377F3C0E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Freeform: Shape 79">
              <a:extLst>
                <a:ext uri="{FF2B5EF4-FFF2-40B4-BE49-F238E27FC236}">
                  <a16:creationId xmlns:a16="http://schemas.microsoft.com/office/drawing/2014/main" id="{82202DEB-EC5B-8BEB-5BB9-C56793449B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Freeform: Shape 80">
              <a:extLst>
                <a:ext uri="{FF2B5EF4-FFF2-40B4-BE49-F238E27FC236}">
                  <a16:creationId xmlns:a16="http://schemas.microsoft.com/office/drawing/2014/main" id="{560FC781-ABC7-C6ED-FA55-536CFD0A76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83" name="Group 82">
            <a:extLst>
              <a:ext uri="{FF2B5EF4-FFF2-40B4-BE49-F238E27FC236}">
                <a16:creationId xmlns:a16="http://schemas.microsoft.com/office/drawing/2014/main" id="{453C65D6-3BD6-A7C4-FEEC-C4FD7DAC3EF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a:off x="9058275" y="4146310"/>
            <a:ext cx="3142400" cy="2716805"/>
            <a:chOff x="-305" y="-4155"/>
            <a:chExt cx="2514948" cy="2174333"/>
          </a:xfrm>
          <a:solidFill>
            <a:schemeClr val="bg1">
              <a:alpha val="30000"/>
            </a:schemeClr>
          </a:solidFill>
        </p:grpSpPr>
        <p:sp>
          <p:nvSpPr>
            <p:cNvPr id="84" name="Freeform: Shape 83">
              <a:extLst>
                <a:ext uri="{FF2B5EF4-FFF2-40B4-BE49-F238E27FC236}">
                  <a16:creationId xmlns:a16="http://schemas.microsoft.com/office/drawing/2014/main" id="{34B4D92D-DAFC-6EDB-6BCC-967F9AF5FE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 name="Freeform: Shape 84">
              <a:extLst>
                <a:ext uri="{FF2B5EF4-FFF2-40B4-BE49-F238E27FC236}">
                  <a16:creationId xmlns:a16="http://schemas.microsoft.com/office/drawing/2014/main" id="{8FA7C117-AF57-4B80-4915-77EF07C2434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Freeform: Shape 85">
              <a:extLst>
                <a:ext uri="{FF2B5EF4-FFF2-40B4-BE49-F238E27FC236}">
                  <a16:creationId xmlns:a16="http://schemas.microsoft.com/office/drawing/2014/main" id="{F4B782EC-1E55-9C7A-E561-71AAEA8347F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87" name="Freeform: Shape 86">
              <a:extLst>
                <a:ext uri="{FF2B5EF4-FFF2-40B4-BE49-F238E27FC236}">
                  <a16:creationId xmlns:a16="http://schemas.microsoft.com/office/drawing/2014/main" id="{DD47490B-9B42-BE41-4AD6-A5E0681E30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6" name="TextBox 5">
            <a:extLst>
              <a:ext uri="{FF2B5EF4-FFF2-40B4-BE49-F238E27FC236}">
                <a16:creationId xmlns:a16="http://schemas.microsoft.com/office/drawing/2014/main" id="{194CCDCE-1605-DBC7-55BB-8F5D4CA7B392}"/>
              </a:ext>
            </a:extLst>
          </p:cNvPr>
          <p:cNvSpPr txBox="1"/>
          <p:nvPr/>
        </p:nvSpPr>
        <p:spPr>
          <a:xfrm>
            <a:off x="901581" y="1609005"/>
            <a:ext cx="9727894" cy="86485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buFont typeface="Wingdings" panose="05000000000000000000" pitchFamily="2" charset="2"/>
              <a:buChar char="Ø"/>
            </a:pPr>
            <a:r>
              <a:rPr lang="en-US" sz="2000" b="1" dirty="0"/>
              <a:t>Provide a digital event management platform</a:t>
            </a:r>
            <a:br>
              <a:rPr lang="en-US" sz="2000" dirty="0"/>
            </a:br>
            <a:r>
              <a:rPr lang="en-US" sz="2000" dirty="0"/>
              <a:t>The primary objective is to create an online system where users can easily manage their events without relying on manual methods. This reduces complexity, saves time, and ensures smooth organization of activities.</a:t>
            </a:r>
          </a:p>
          <a:p>
            <a:pPr marL="342900" indent="-342900">
              <a:buFont typeface="Wingdings" panose="05000000000000000000" pitchFamily="2" charset="2"/>
              <a:buChar char="Ø"/>
            </a:pPr>
            <a:r>
              <a:rPr lang="en-US" sz="2000" b="1" dirty="0"/>
              <a:t>Simplify event creation and scheduling</a:t>
            </a:r>
            <a:br>
              <a:rPr lang="en-US" sz="2000" dirty="0"/>
            </a:br>
            <a:r>
              <a:rPr lang="en-US" sz="2000" dirty="0" err="1"/>
              <a:t>EventMate</a:t>
            </a:r>
            <a:r>
              <a:rPr lang="en-US" sz="2000" dirty="0"/>
              <a:t> allows users to add, edit, and delete events with proper time and date management. This ensures that event planning becomes more structured, avoiding conflicts and overlaps.</a:t>
            </a:r>
          </a:p>
          <a:p>
            <a:pPr marL="342900" indent="-342900">
              <a:buFont typeface="Wingdings" panose="05000000000000000000" pitchFamily="2" charset="2"/>
              <a:buChar char="Ø"/>
            </a:pPr>
            <a:r>
              <a:rPr lang="en-US" sz="2000" b="1" dirty="0"/>
              <a:t>Ensure secure user authentication and data handling</a:t>
            </a:r>
            <a:br>
              <a:rPr lang="en-US" sz="2000" dirty="0"/>
            </a:br>
            <a:r>
              <a:rPr lang="en-US" sz="2000" dirty="0"/>
              <a:t>By using JWT-based login and registration, the system guarantees that only authorized users can access their event data. This provides both privacy and data security.</a:t>
            </a:r>
          </a:p>
          <a:p>
            <a:pPr marL="342900" indent="-342900">
              <a:buFont typeface="Wingdings" panose="05000000000000000000" pitchFamily="2" charset="2"/>
              <a:buChar char="Ø"/>
            </a:pPr>
            <a:r>
              <a:rPr lang="en-US" sz="2000" b="1" dirty="0"/>
              <a:t>Deliver a reliable, scalable, and user-friendly solution</a:t>
            </a:r>
            <a:br>
              <a:rPr lang="en-US" sz="2000" dirty="0"/>
            </a:br>
            <a:r>
              <a:rPr lang="en-US" sz="2000" dirty="0"/>
              <a:t>With a React frontend and Spring Boot backend, the system is designed to be responsive, interactive, and capable of handling multiple users efficiently, ensuring a smooth user experience.</a:t>
            </a:r>
          </a:p>
          <a:p>
            <a:endParaRPr lang="en-US" sz="2000" b="1" dirty="0">
              <a:ea typeface="Calibri"/>
              <a:cs typeface="Calibri"/>
            </a:endParaRPr>
          </a:p>
          <a:p>
            <a:endParaRPr lang="en-US" sz="3600" b="1" dirty="0">
              <a:latin typeface="+mj-lt"/>
              <a:ea typeface="Calibri"/>
              <a:cs typeface="Calibri"/>
            </a:endParaRPr>
          </a:p>
          <a:p>
            <a:endParaRPr lang="en-US" sz="3600" b="1" dirty="0">
              <a:latin typeface="Calibri"/>
              <a:ea typeface="Calibri"/>
              <a:cs typeface="Calibri"/>
            </a:endParaRPr>
          </a:p>
          <a:p>
            <a:endParaRPr lang="en-US" sz="3600" b="1" dirty="0">
              <a:latin typeface="Calibri"/>
              <a:ea typeface="Calibri"/>
              <a:cs typeface="Calibri"/>
            </a:endParaRPr>
          </a:p>
          <a:p>
            <a:endParaRPr lang="en-US" sz="3600" b="1" dirty="0">
              <a:latin typeface="Calibri"/>
              <a:ea typeface="Calibri"/>
              <a:cs typeface="Calibri"/>
            </a:endParaRPr>
          </a:p>
          <a:p>
            <a:endParaRPr lang="en-US" sz="3600" b="1" dirty="0">
              <a:latin typeface="Calibri"/>
              <a:ea typeface="Calibri"/>
              <a:cs typeface="Calibri"/>
            </a:endParaRPr>
          </a:p>
          <a:p>
            <a:r>
              <a:rPr lang="en-US" sz="3600" b="1" dirty="0">
                <a:latin typeface="Calibri"/>
                <a:ea typeface="Calibri"/>
                <a:cs typeface="Calibri"/>
              </a:rPr>
              <a:t> </a:t>
            </a:r>
          </a:p>
        </p:txBody>
      </p:sp>
    </p:spTree>
    <p:extLst>
      <p:ext uri="{BB962C8B-B14F-4D97-AF65-F5344CB8AC3E}">
        <p14:creationId xmlns:p14="http://schemas.microsoft.com/office/powerpoint/2010/main" val="29519491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6200B53-6CF1-842A-BF47-481245126F3C}"/>
            </a:ext>
          </a:extLst>
        </p:cNvPr>
        <p:cNvGrpSpPr/>
        <p:nvPr/>
      </p:nvGrpSpPr>
      <p:grpSpPr>
        <a:xfrm>
          <a:off x="0" y="0"/>
          <a:ext cx="0" cy="0"/>
          <a:chOff x="0" y="0"/>
          <a:chExt cx="0" cy="0"/>
        </a:xfrm>
      </p:grpSpPr>
      <p:sp useBgFill="1">
        <p:nvSpPr>
          <p:cNvPr id="71" name="Rectangle 70">
            <a:extLst>
              <a:ext uri="{FF2B5EF4-FFF2-40B4-BE49-F238E27FC236}">
                <a16:creationId xmlns:a16="http://schemas.microsoft.com/office/drawing/2014/main" id="{0842AB3A-3A2B-3804-9EDA-F91E0403BED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Rectangle 72">
            <a:extLst>
              <a:ext uri="{FF2B5EF4-FFF2-40B4-BE49-F238E27FC236}">
                <a16:creationId xmlns:a16="http://schemas.microsoft.com/office/drawing/2014/main" id="{DB859EE2-A728-6887-A4AE-EB897AD53F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75" name="Rectangle 74">
            <a:extLst>
              <a:ext uri="{FF2B5EF4-FFF2-40B4-BE49-F238E27FC236}">
                <a16:creationId xmlns:a16="http://schemas.microsoft.com/office/drawing/2014/main" id="{B6C876DE-AC3E-748E-3973-1F4329FA9D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gradFill flip="none" rotWithShape="1">
            <a:gsLst>
              <a:gs pos="16000">
                <a:schemeClr val="accent6">
                  <a:alpha val="20000"/>
                </a:schemeClr>
              </a:gs>
              <a:gs pos="85000">
                <a:schemeClr val="accent1">
                  <a:alpha val="4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68C2086-140F-F695-8555-0EEF4EA1F8AA}"/>
              </a:ext>
            </a:extLst>
          </p:cNvPr>
          <p:cNvSpPr>
            <a:spLocks noGrp="1"/>
          </p:cNvSpPr>
          <p:nvPr>
            <p:ph type="ctrTitle"/>
          </p:nvPr>
        </p:nvSpPr>
        <p:spPr>
          <a:xfrm>
            <a:off x="1288974" y="722128"/>
            <a:ext cx="9044848" cy="709589"/>
          </a:xfrm>
          <a:noFill/>
          <a:ln>
            <a:noFill/>
          </a:ln>
        </p:spPr>
        <p:txBody>
          <a:bodyPr anchor="b">
            <a:noAutofit/>
          </a:bodyPr>
          <a:lstStyle/>
          <a:p>
            <a:r>
              <a:rPr lang="en-US" sz="4800" b="1" u="sng" dirty="0">
                <a:latin typeface="Calibri"/>
                <a:ea typeface="+mj-lt"/>
                <a:cs typeface="+mj-lt"/>
                <a:hlinkClick r:id="" action="ppaction://noaction">
                  <a:extLst>
                    <a:ext uri="{A12FA001-AC4F-418D-AE19-62706E023703}">
                      <ahyp:hlinkClr xmlns:ahyp="http://schemas.microsoft.com/office/drawing/2018/hyperlinkcolor" val="tx"/>
                    </a:ext>
                  </a:extLst>
                </a:hlinkClick>
              </a:rPr>
              <a:t> Features</a:t>
            </a:r>
            <a:endParaRPr lang="en-US" sz="4800" u="sng" dirty="0">
              <a:latin typeface="Calibri"/>
              <a:ea typeface="Calibri"/>
              <a:cs typeface="Calibri"/>
              <a:hlinkClick r:id="" action="ppaction://noaction">
                <a:extLst>
                  <a:ext uri="{A12FA001-AC4F-418D-AE19-62706E023703}">
                    <ahyp:hlinkClr xmlns:ahyp="http://schemas.microsoft.com/office/drawing/2018/hyperlinkcolor" val="tx"/>
                  </a:ext>
                </a:extLst>
              </a:hlinkClick>
            </a:endParaRPr>
          </a:p>
        </p:txBody>
      </p:sp>
      <p:grpSp>
        <p:nvGrpSpPr>
          <p:cNvPr id="77" name="Group 76">
            <a:extLst>
              <a:ext uri="{FF2B5EF4-FFF2-40B4-BE49-F238E27FC236}">
                <a16:creationId xmlns:a16="http://schemas.microsoft.com/office/drawing/2014/main" id="{5BD8E9CD-7D70-3277-342A-3C4CB998CDA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18230" y="-43336"/>
            <a:ext cx="5163047" cy="2657478"/>
            <a:chOff x="6867015" y="-1"/>
            <a:chExt cx="5324985" cy="3251912"/>
          </a:xfrm>
          <a:solidFill>
            <a:schemeClr val="bg1">
              <a:alpha val="30000"/>
            </a:schemeClr>
          </a:solidFill>
        </p:grpSpPr>
        <p:sp>
          <p:nvSpPr>
            <p:cNvPr id="78" name="Freeform: Shape 77">
              <a:extLst>
                <a:ext uri="{FF2B5EF4-FFF2-40B4-BE49-F238E27FC236}">
                  <a16:creationId xmlns:a16="http://schemas.microsoft.com/office/drawing/2014/main" id="{2A1A7FEB-8F52-4A26-0D4C-FFF075F20B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Freeform: Shape 78">
              <a:extLst>
                <a:ext uri="{FF2B5EF4-FFF2-40B4-BE49-F238E27FC236}">
                  <a16:creationId xmlns:a16="http://schemas.microsoft.com/office/drawing/2014/main" id="{4C6AB506-0B3E-9531-4CCA-E55DA37B54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Freeform: Shape 79">
              <a:extLst>
                <a:ext uri="{FF2B5EF4-FFF2-40B4-BE49-F238E27FC236}">
                  <a16:creationId xmlns:a16="http://schemas.microsoft.com/office/drawing/2014/main" id="{D5621DB3-38AB-5603-838B-15B5640C0A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Freeform: Shape 80">
              <a:extLst>
                <a:ext uri="{FF2B5EF4-FFF2-40B4-BE49-F238E27FC236}">
                  <a16:creationId xmlns:a16="http://schemas.microsoft.com/office/drawing/2014/main" id="{4B01517C-F53E-11C8-4C20-BA79FFB781D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83" name="Group 82">
            <a:extLst>
              <a:ext uri="{FF2B5EF4-FFF2-40B4-BE49-F238E27FC236}">
                <a16:creationId xmlns:a16="http://schemas.microsoft.com/office/drawing/2014/main" id="{0D00C655-E84F-EDA2-97CF-7B08BE9508F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a:off x="9058275" y="4146310"/>
            <a:ext cx="3142400" cy="2716805"/>
            <a:chOff x="-305" y="-4155"/>
            <a:chExt cx="2514948" cy="2174333"/>
          </a:xfrm>
          <a:solidFill>
            <a:schemeClr val="bg1">
              <a:alpha val="30000"/>
            </a:schemeClr>
          </a:solidFill>
        </p:grpSpPr>
        <p:sp>
          <p:nvSpPr>
            <p:cNvPr id="84" name="Freeform: Shape 83">
              <a:extLst>
                <a:ext uri="{FF2B5EF4-FFF2-40B4-BE49-F238E27FC236}">
                  <a16:creationId xmlns:a16="http://schemas.microsoft.com/office/drawing/2014/main" id="{68C4F2C7-8960-935B-AA23-F6F9DD74A00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 name="Freeform: Shape 84">
              <a:extLst>
                <a:ext uri="{FF2B5EF4-FFF2-40B4-BE49-F238E27FC236}">
                  <a16:creationId xmlns:a16="http://schemas.microsoft.com/office/drawing/2014/main" id="{736C1C71-B490-DC26-CDA9-3F1E2F02049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Freeform: Shape 85">
              <a:extLst>
                <a:ext uri="{FF2B5EF4-FFF2-40B4-BE49-F238E27FC236}">
                  <a16:creationId xmlns:a16="http://schemas.microsoft.com/office/drawing/2014/main" id="{EFE8D472-2176-6BE9-E657-31C1238B59A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87" name="Freeform: Shape 86">
              <a:extLst>
                <a:ext uri="{FF2B5EF4-FFF2-40B4-BE49-F238E27FC236}">
                  <a16:creationId xmlns:a16="http://schemas.microsoft.com/office/drawing/2014/main" id="{4EAF1A68-1FE9-A1DD-AE73-96CFB1D5BFE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6" name="TextBox 5">
            <a:extLst>
              <a:ext uri="{FF2B5EF4-FFF2-40B4-BE49-F238E27FC236}">
                <a16:creationId xmlns:a16="http://schemas.microsoft.com/office/drawing/2014/main" id="{7497BED1-CA17-625C-1F7B-1885713A3FE4}"/>
              </a:ext>
            </a:extLst>
          </p:cNvPr>
          <p:cNvSpPr txBox="1"/>
          <p:nvPr/>
        </p:nvSpPr>
        <p:spPr>
          <a:xfrm>
            <a:off x="901581" y="1609005"/>
            <a:ext cx="9727894" cy="741741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buFont typeface="Wingdings" panose="05000000000000000000" pitchFamily="2" charset="2"/>
              <a:buChar char="Ø"/>
            </a:pPr>
            <a:r>
              <a:rPr lang="en-US" sz="2000" b="1" dirty="0"/>
              <a:t>User Registration &amp; Authentication</a:t>
            </a:r>
            <a:r>
              <a:rPr lang="en-US" sz="2000" dirty="0"/>
              <a:t> – Secure signup and login for attendees and organizers.</a:t>
            </a:r>
          </a:p>
          <a:p>
            <a:pPr marL="342900" indent="-342900">
              <a:buFont typeface="Wingdings" panose="05000000000000000000" pitchFamily="2" charset="2"/>
              <a:buChar char="Ø"/>
            </a:pPr>
            <a:endParaRPr lang="en-US" sz="2000" dirty="0"/>
          </a:p>
          <a:p>
            <a:pPr marL="342900" indent="-342900">
              <a:buFont typeface="Wingdings" panose="05000000000000000000" pitchFamily="2" charset="2"/>
              <a:buChar char="Ø"/>
            </a:pPr>
            <a:r>
              <a:rPr lang="en-US" sz="2000" b="1" dirty="0"/>
              <a:t>Event Creation &amp; Management</a:t>
            </a:r>
            <a:r>
              <a:rPr lang="en-US" sz="2000" dirty="0"/>
              <a:t> – Organizers can create, update, and manage events with details like date, venue, and description.</a:t>
            </a:r>
          </a:p>
          <a:p>
            <a:pPr marL="342900" indent="-342900">
              <a:buFont typeface="Wingdings" panose="05000000000000000000" pitchFamily="2" charset="2"/>
              <a:buChar char="Ø"/>
            </a:pPr>
            <a:endParaRPr lang="en-US" sz="2000" dirty="0"/>
          </a:p>
          <a:p>
            <a:pPr marL="342900" indent="-342900">
              <a:buFont typeface="Wingdings" panose="05000000000000000000" pitchFamily="2" charset="2"/>
              <a:buChar char="Ø"/>
            </a:pPr>
            <a:r>
              <a:rPr lang="en-US" sz="2000" b="1" dirty="0"/>
              <a:t>Event Booking &amp; Ticketing</a:t>
            </a:r>
            <a:r>
              <a:rPr lang="en-US" sz="2000" dirty="0"/>
              <a:t> – Attendees can browse events, book tickets, and receive confirmations.</a:t>
            </a:r>
          </a:p>
          <a:p>
            <a:pPr marL="342900" indent="-342900">
              <a:buFont typeface="Wingdings" panose="05000000000000000000" pitchFamily="2" charset="2"/>
              <a:buChar char="Ø"/>
            </a:pPr>
            <a:endParaRPr lang="en-US" sz="2000" dirty="0"/>
          </a:p>
          <a:p>
            <a:pPr marL="342900" indent="-342900">
              <a:buFont typeface="Wingdings" panose="05000000000000000000" pitchFamily="2" charset="2"/>
              <a:buChar char="Ø"/>
            </a:pPr>
            <a:r>
              <a:rPr lang="en-US" sz="2000" b="1" dirty="0"/>
              <a:t>Search &amp; Filters</a:t>
            </a:r>
            <a:r>
              <a:rPr lang="en-US" sz="2000" dirty="0"/>
              <a:t> – Users can search events by category, date, or location and apply filters for easy navigation.</a:t>
            </a:r>
          </a:p>
          <a:p>
            <a:pPr marL="342900" indent="-342900">
              <a:buFont typeface="Wingdings" panose="05000000000000000000" pitchFamily="2" charset="2"/>
              <a:buChar char="Ø"/>
            </a:pPr>
            <a:endParaRPr lang="en-US" sz="2000" dirty="0"/>
          </a:p>
          <a:p>
            <a:endParaRPr lang="en-US" sz="2000" b="1" dirty="0">
              <a:ea typeface="Calibri"/>
              <a:cs typeface="Calibri"/>
            </a:endParaRPr>
          </a:p>
          <a:p>
            <a:endParaRPr lang="en-US" sz="3600" b="1" dirty="0">
              <a:latin typeface="+mj-lt"/>
              <a:ea typeface="Calibri"/>
              <a:cs typeface="Calibri"/>
            </a:endParaRPr>
          </a:p>
          <a:p>
            <a:endParaRPr lang="en-US" sz="3600" b="1" dirty="0">
              <a:latin typeface="Calibri"/>
              <a:ea typeface="Calibri"/>
              <a:cs typeface="Calibri"/>
            </a:endParaRPr>
          </a:p>
          <a:p>
            <a:endParaRPr lang="en-US" sz="3600" b="1" dirty="0">
              <a:latin typeface="Calibri"/>
              <a:ea typeface="Calibri"/>
              <a:cs typeface="Calibri"/>
            </a:endParaRPr>
          </a:p>
          <a:p>
            <a:endParaRPr lang="en-US" sz="3600" b="1" dirty="0">
              <a:latin typeface="Calibri"/>
              <a:ea typeface="Calibri"/>
              <a:cs typeface="Calibri"/>
            </a:endParaRPr>
          </a:p>
          <a:p>
            <a:endParaRPr lang="en-US" sz="3600" b="1" dirty="0">
              <a:latin typeface="Calibri"/>
              <a:ea typeface="Calibri"/>
              <a:cs typeface="Calibri"/>
            </a:endParaRPr>
          </a:p>
          <a:p>
            <a:r>
              <a:rPr lang="en-US" sz="3600" b="1" dirty="0">
                <a:latin typeface="Calibri"/>
                <a:ea typeface="Calibri"/>
                <a:cs typeface="Calibri"/>
              </a:rPr>
              <a:t> </a:t>
            </a:r>
          </a:p>
        </p:txBody>
      </p:sp>
    </p:spTree>
    <p:extLst>
      <p:ext uri="{BB962C8B-B14F-4D97-AF65-F5344CB8AC3E}">
        <p14:creationId xmlns:p14="http://schemas.microsoft.com/office/powerpoint/2010/main" val="7462160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3E9468B-D075-FA6A-57B4-C1DEA2A16C21}"/>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901AD75-8A3E-2D29-9BFB-B124566089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A44F89C9-380C-D634-1810-DEF9F7A48F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gradFill flip="none" rotWithShape="1">
            <a:gsLst>
              <a:gs pos="16000">
                <a:schemeClr val="accent6">
                  <a:alpha val="20000"/>
                </a:schemeClr>
              </a:gs>
              <a:gs pos="85000">
                <a:schemeClr val="accent1">
                  <a:alpha val="4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 name="Group 11">
            <a:extLst>
              <a:ext uri="{FF2B5EF4-FFF2-40B4-BE49-F238E27FC236}">
                <a16:creationId xmlns:a16="http://schemas.microsoft.com/office/drawing/2014/main" id="{30EEC422-BC39-EE57-33ED-77A92E2ECA3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18230" y="-8167"/>
            <a:ext cx="4834070" cy="2488150"/>
            <a:chOff x="6867015" y="-1"/>
            <a:chExt cx="5324985" cy="3251912"/>
          </a:xfrm>
          <a:solidFill>
            <a:schemeClr val="bg1">
              <a:alpha val="30000"/>
            </a:schemeClr>
          </a:solidFill>
        </p:grpSpPr>
        <p:sp>
          <p:nvSpPr>
            <p:cNvPr id="13" name="Freeform: Shape 12">
              <a:extLst>
                <a:ext uri="{FF2B5EF4-FFF2-40B4-BE49-F238E27FC236}">
                  <a16:creationId xmlns:a16="http://schemas.microsoft.com/office/drawing/2014/main" id="{B98F5171-F7DF-963F-FA2E-55AE22CBD2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56B92E15-968F-3386-0DB7-002B532654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C6F928A2-7D89-A4B6-72B7-9642DB14BC4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840CDBCC-B22C-E49D-10BA-4B8FB4C8DC5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8" name="Group 17">
            <a:extLst>
              <a:ext uri="{FF2B5EF4-FFF2-40B4-BE49-F238E27FC236}">
                <a16:creationId xmlns:a16="http://schemas.microsoft.com/office/drawing/2014/main" id="{D328F287-38E0-6388-098B-E14D8EB7489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a:off x="9058275" y="4146310"/>
            <a:ext cx="3142400" cy="2716805"/>
            <a:chOff x="-305" y="-4155"/>
            <a:chExt cx="2514948" cy="2174333"/>
          </a:xfrm>
          <a:solidFill>
            <a:schemeClr val="bg1">
              <a:alpha val="30000"/>
            </a:schemeClr>
          </a:solidFill>
        </p:grpSpPr>
        <p:sp>
          <p:nvSpPr>
            <p:cNvPr id="19" name="Freeform: Shape 18">
              <a:extLst>
                <a:ext uri="{FF2B5EF4-FFF2-40B4-BE49-F238E27FC236}">
                  <a16:creationId xmlns:a16="http://schemas.microsoft.com/office/drawing/2014/main" id="{31A79FD4-FC77-3836-E1DE-0E870D1A211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50204301-50C8-9A1A-C294-3184A89498F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9DA34299-6FAD-7572-4F78-C1C258940ED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22" name="Freeform: Shape 21">
              <a:extLst>
                <a:ext uri="{FF2B5EF4-FFF2-40B4-BE49-F238E27FC236}">
                  <a16:creationId xmlns:a16="http://schemas.microsoft.com/office/drawing/2014/main" id="{FD365530-7A0E-87B9-5494-FA1061D49C1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9" name="TextBox 8">
            <a:extLst>
              <a:ext uri="{FF2B5EF4-FFF2-40B4-BE49-F238E27FC236}">
                <a16:creationId xmlns:a16="http://schemas.microsoft.com/office/drawing/2014/main" id="{759B721A-46FB-14EC-3733-EFACE53A5EE1}"/>
              </a:ext>
            </a:extLst>
          </p:cNvPr>
          <p:cNvSpPr txBox="1"/>
          <p:nvPr/>
        </p:nvSpPr>
        <p:spPr>
          <a:xfrm>
            <a:off x="2930486" y="378122"/>
            <a:ext cx="5475383" cy="85993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4800" b="1" u="sng" dirty="0"/>
              <a:t>       Flow Chart</a:t>
            </a:r>
          </a:p>
        </p:txBody>
      </p:sp>
      <p:pic>
        <p:nvPicPr>
          <p:cNvPr id="5" name="Picture 4">
            <a:extLst>
              <a:ext uri="{FF2B5EF4-FFF2-40B4-BE49-F238E27FC236}">
                <a16:creationId xmlns:a16="http://schemas.microsoft.com/office/drawing/2014/main" id="{4194F460-3D2C-60F7-DF23-C60921C56A5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657599" y="1065079"/>
            <a:ext cx="3838726" cy="5758088"/>
          </a:xfrm>
          <a:prstGeom prst="rect">
            <a:avLst/>
          </a:prstGeom>
        </p:spPr>
      </p:pic>
    </p:spTree>
    <p:extLst>
      <p:ext uri="{BB962C8B-B14F-4D97-AF65-F5344CB8AC3E}">
        <p14:creationId xmlns:p14="http://schemas.microsoft.com/office/powerpoint/2010/main" val="32652240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1565BE3-3C69-FE6F-E9D4-11A3184B1376}"/>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B519FFE-3C91-4C00-E1F0-B93E2911AC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5165F3DB-6BB7-A998-403B-584F1334314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gradFill flip="none" rotWithShape="1">
            <a:gsLst>
              <a:gs pos="16000">
                <a:schemeClr val="accent6">
                  <a:alpha val="20000"/>
                </a:schemeClr>
              </a:gs>
              <a:gs pos="85000">
                <a:schemeClr val="accent1">
                  <a:alpha val="4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 name="Group 11">
            <a:extLst>
              <a:ext uri="{FF2B5EF4-FFF2-40B4-BE49-F238E27FC236}">
                <a16:creationId xmlns:a16="http://schemas.microsoft.com/office/drawing/2014/main" id="{3DB65F1F-F5D7-C4F9-346C-29F211FE5F7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18230" y="-8167"/>
            <a:ext cx="4834070" cy="2488150"/>
            <a:chOff x="6867015" y="-1"/>
            <a:chExt cx="5324985" cy="3251912"/>
          </a:xfrm>
          <a:solidFill>
            <a:schemeClr val="bg1">
              <a:alpha val="30000"/>
            </a:schemeClr>
          </a:solidFill>
        </p:grpSpPr>
        <p:sp>
          <p:nvSpPr>
            <p:cNvPr id="13" name="Freeform: Shape 12">
              <a:extLst>
                <a:ext uri="{FF2B5EF4-FFF2-40B4-BE49-F238E27FC236}">
                  <a16:creationId xmlns:a16="http://schemas.microsoft.com/office/drawing/2014/main" id="{7D2F28B0-3E81-74E1-82A5-D3E37A6B16C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31F67EDD-C19B-BF67-99A2-A888B276975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A5E9D358-0DD3-C35B-0CE5-7CB7CF290FE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935D51CD-0DCF-B8EC-6D85-791ECE9DCF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8" name="Group 17">
            <a:extLst>
              <a:ext uri="{FF2B5EF4-FFF2-40B4-BE49-F238E27FC236}">
                <a16:creationId xmlns:a16="http://schemas.microsoft.com/office/drawing/2014/main" id="{79D52E84-5238-2DC4-6571-AE53AE898FB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a:off x="9058275" y="4146310"/>
            <a:ext cx="3142400" cy="2716805"/>
            <a:chOff x="-305" y="-4155"/>
            <a:chExt cx="2514948" cy="2174333"/>
          </a:xfrm>
          <a:solidFill>
            <a:schemeClr val="bg1">
              <a:alpha val="30000"/>
            </a:schemeClr>
          </a:solidFill>
        </p:grpSpPr>
        <p:sp>
          <p:nvSpPr>
            <p:cNvPr id="19" name="Freeform: Shape 18">
              <a:extLst>
                <a:ext uri="{FF2B5EF4-FFF2-40B4-BE49-F238E27FC236}">
                  <a16:creationId xmlns:a16="http://schemas.microsoft.com/office/drawing/2014/main" id="{FFD70D30-43C8-96D4-4588-501EA45777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D66FE4C0-D3C1-A978-3EDA-BD38618757D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319E0421-3F7B-0C60-C413-C2C13BBCD08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22" name="Freeform: Shape 21">
              <a:extLst>
                <a:ext uri="{FF2B5EF4-FFF2-40B4-BE49-F238E27FC236}">
                  <a16:creationId xmlns:a16="http://schemas.microsoft.com/office/drawing/2014/main" id="{3100AAC6-EC10-0576-8170-90B963E9B9D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4" name="TextBox 23">
            <a:extLst>
              <a:ext uri="{FF2B5EF4-FFF2-40B4-BE49-F238E27FC236}">
                <a16:creationId xmlns:a16="http://schemas.microsoft.com/office/drawing/2014/main" id="{0BFFE5E0-E629-D2DD-4362-5A08D5E3DDFC}"/>
              </a:ext>
            </a:extLst>
          </p:cNvPr>
          <p:cNvSpPr txBox="1"/>
          <p:nvPr/>
        </p:nvSpPr>
        <p:spPr>
          <a:xfrm>
            <a:off x="859317" y="404911"/>
            <a:ext cx="10946184"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4800" b="1" u="sng" dirty="0"/>
              <a:t>CLIENT PAGE:</a:t>
            </a:r>
          </a:p>
        </p:txBody>
      </p:sp>
      <p:pic>
        <p:nvPicPr>
          <p:cNvPr id="2" name="Picture 1">
            <a:extLst>
              <a:ext uri="{FF2B5EF4-FFF2-40B4-BE49-F238E27FC236}">
                <a16:creationId xmlns:a16="http://schemas.microsoft.com/office/drawing/2014/main" id="{971D5E00-FB72-2434-C9E6-CE8EF2213660}"/>
              </a:ext>
            </a:extLst>
          </p:cNvPr>
          <p:cNvPicPr>
            <a:picLocks noChangeAspect="1"/>
          </p:cNvPicPr>
          <p:nvPr/>
        </p:nvPicPr>
        <p:blipFill>
          <a:blip r:embed="rId2"/>
          <a:stretch>
            <a:fillRect/>
          </a:stretch>
        </p:blipFill>
        <p:spPr>
          <a:xfrm>
            <a:off x="299258" y="1316182"/>
            <a:ext cx="11209521" cy="5366558"/>
          </a:xfrm>
          <a:prstGeom prst="rect">
            <a:avLst/>
          </a:prstGeom>
        </p:spPr>
      </p:pic>
    </p:spTree>
    <p:extLst>
      <p:ext uri="{BB962C8B-B14F-4D97-AF65-F5344CB8AC3E}">
        <p14:creationId xmlns:p14="http://schemas.microsoft.com/office/powerpoint/2010/main" val="8676806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CDE93E4-BCDB-733F-06DC-DFDD82DCA0B5}"/>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183B7A3-9E67-BB36-9162-ABB7F3F9BB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F3F3723F-4F80-C927-329D-B25A7155B8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gradFill flip="none" rotWithShape="1">
            <a:gsLst>
              <a:gs pos="16000">
                <a:schemeClr val="accent6">
                  <a:alpha val="20000"/>
                </a:schemeClr>
              </a:gs>
              <a:gs pos="85000">
                <a:schemeClr val="accent1">
                  <a:alpha val="4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 name="Group 11">
            <a:extLst>
              <a:ext uri="{FF2B5EF4-FFF2-40B4-BE49-F238E27FC236}">
                <a16:creationId xmlns:a16="http://schemas.microsoft.com/office/drawing/2014/main" id="{9E876CA9-CBDC-565B-3C8E-3E39F3DA10F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18230" y="-8167"/>
            <a:ext cx="4834070" cy="2488150"/>
            <a:chOff x="6867015" y="-1"/>
            <a:chExt cx="5324985" cy="3251912"/>
          </a:xfrm>
          <a:solidFill>
            <a:schemeClr val="bg1">
              <a:alpha val="30000"/>
            </a:schemeClr>
          </a:solidFill>
        </p:grpSpPr>
        <p:sp>
          <p:nvSpPr>
            <p:cNvPr id="13" name="Freeform: Shape 12">
              <a:extLst>
                <a:ext uri="{FF2B5EF4-FFF2-40B4-BE49-F238E27FC236}">
                  <a16:creationId xmlns:a16="http://schemas.microsoft.com/office/drawing/2014/main" id="{C99F5204-C7EC-3715-4B4B-987DA371B3B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A30A0E94-0DE2-68CA-E170-D38283B0BB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180DF16A-F078-16CE-463D-C45CEA4B669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AB69F779-8569-6348-54FF-01E926D5833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8" name="Group 17">
            <a:extLst>
              <a:ext uri="{FF2B5EF4-FFF2-40B4-BE49-F238E27FC236}">
                <a16:creationId xmlns:a16="http://schemas.microsoft.com/office/drawing/2014/main" id="{930177D9-9ED8-00A9-7A29-C312ADA618A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a:off x="9058275" y="4146310"/>
            <a:ext cx="3142400" cy="2716805"/>
            <a:chOff x="-305" y="-4155"/>
            <a:chExt cx="2514948" cy="2174333"/>
          </a:xfrm>
          <a:solidFill>
            <a:schemeClr val="bg1">
              <a:alpha val="30000"/>
            </a:schemeClr>
          </a:solidFill>
        </p:grpSpPr>
        <p:sp>
          <p:nvSpPr>
            <p:cNvPr id="19" name="Freeform: Shape 18">
              <a:extLst>
                <a:ext uri="{FF2B5EF4-FFF2-40B4-BE49-F238E27FC236}">
                  <a16:creationId xmlns:a16="http://schemas.microsoft.com/office/drawing/2014/main" id="{0ADD760D-4857-9C7A-79D6-FCABB52AE20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B126B1FF-15E6-08BA-7EBA-FC57B49979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5C1C2635-A56A-7A23-604B-280C28CEFF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22" name="Freeform: Shape 21">
              <a:extLst>
                <a:ext uri="{FF2B5EF4-FFF2-40B4-BE49-F238E27FC236}">
                  <a16:creationId xmlns:a16="http://schemas.microsoft.com/office/drawing/2014/main" id="{622B573F-BB50-5857-DB72-202A387A52C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4" name="TextBox 23">
            <a:extLst>
              <a:ext uri="{FF2B5EF4-FFF2-40B4-BE49-F238E27FC236}">
                <a16:creationId xmlns:a16="http://schemas.microsoft.com/office/drawing/2014/main" id="{821221C1-10A4-0C62-B2F9-7194B1F7ACDD}"/>
              </a:ext>
            </a:extLst>
          </p:cNvPr>
          <p:cNvSpPr txBox="1"/>
          <p:nvPr/>
        </p:nvSpPr>
        <p:spPr>
          <a:xfrm>
            <a:off x="859317" y="404911"/>
            <a:ext cx="10946184"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4800" b="1" u="sng" dirty="0"/>
              <a:t>VENDOR PAGE:</a:t>
            </a:r>
          </a:p>
        </p:txBody>
      </p:sp>
      <p:sp>
        <p:nvSpPr>
          <p:cNvPr id="3" name="AutoShape 2">
            <a:extLst>
              <a:ext uri="{FF2B5EF4-FFF2-40B4-BE49-F238E27FC236}">
                <a16:creationId xmlns:a16="http://schemas.microsoft.com/office/drawing/2014/main" id="{C16CB0DC-09E7-0800-41D0-53D1AAA2C6BF}"/>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5" name="Picture 4">
            <a:extLst>
              <a:ext uri="{FF2B5EF4-FFF2-40B4-BE49-F238E27FC236}">
                <a16:creationId xmlns:a16="http://schemas.microsoft.com/office/drawing/2014/main" id="{806172FD-1C48-9392-6252-EC348026AB44}"/>
              </a:ext>
            </a:extLst>
          </p:cNvPr>
          <p:cNvPicPr>
            <a:picLocks noChangeAspect="1"/>
          </p:cNvPicPr>
          <p:nvPr/>
        </p:nvPicPr>
        <p:blipFill>
          <a:blip r:embed="rId2"/>
          <a:stretch>
            <a:fillRect/>
          </a:stretch>
        </p:blipFill>
        <p:spPr>
          <a:xfrm>
            <a:off x="617801" y="1331087"/>
            <a:ext cx="10956092" cy="5087735"/>
          </a:xfrm>
          <a:prstGeom prst="rect">
            <a:avLst/>
          </a:prstGeom>
        </p:spPr>
      </p:pic>
    </p:spTree>
    <p:extLst>
      <p:ext uri="{BB962C8B-B14F-4D97-AF65-F5344CB8AC3E}">
        <p14:creationId xmlns:p14="http://schemas.microsoft.com/office/powerpoint/2010/main" val="28393028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E033F45-2598-AF61-7372-A23074A50315}"/>
            </a:ext>
          </a:extLst>
        </p:cNvPr>
        <p:cNvGrpSpPr/>
        <p:nvPr/>
      </p:nvGrpSpPr>
      <p:grpSpPr>
        <a:xfrm>
          <a:off x="0" y="0"/>
          <a:ext cx="0" cy="0"/>
          <a:chOff x="0" y="0"/>
          <a:chExt cx="0" cy="0"/>
        </a:xfrm>
      </p:grpSpPr>
      <p:sp useBgFill="1">
        <p:nvSpPr>
          <p:cNvPr id="71" name="Rectangle 70">
            <a:extLst>
              <a:ext uri="{FF2B5EF4-FFF2-40B4-BE49-F238E27FC236}">
                <a16:creationId xmlns:a16="http://schemas.microsoft.com/office/drawing/2014/main" id="{578D532A-7BD4-D9AC-8837-EE8420E5AC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Rectangle 72">
            <a:extLst>
              <a:ext uri="{FF2B5EF4-FFF2-40B4-BE49-F238E27FC236}">
                <a16:creationId xmlns:a16="http://schemas.microsoft.com/office/drawing/2014/main" id="{D4BF6717-CB7B-DB51-348A-735D78E5C5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75" name="Rectangle 74">
            <a:extLst>
              <a:ext uri="{FF2B5EF4-FFF2-40B4-BE49-F238E27FC236}">
                <a16:creationId xmlns:a16="http://schemas.microsoft.com/office/drawing/2014/main" id="{00B3C525-CA8E-5EC0-0735-B9A09A3A4B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gradFill flip="none" rotWithShape="1">
            <a:gsLst>
              <a:gs pos="16000">
                <a:schemeClr val="accent6">
                  <a:alpha val="20000"/>
                </a:schemeClr>
              </a:gs>
              <a:gs pos="85000">
                <a:schemeClr val="accent1">
                  <a:alpha val="4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4ECD477-2AC3-CBA9-A8B2-743FA49E6FEE}"/>
              </a:ext>
            </a:extLst>
          </p:cNvPr>
          <p:cNvSpPr>
            <a:spLocks noGrp="1"/>
          </p:cNvSpPr>
          <p:nvPr>
            <p:ph type="ctrTitle"/>
          </p:nvPr>
        </p:nvSpPr>
        <p:spPr>
          <a:xfrm>
            <a:off x="1322025" y="1152960"/>
            <a:ext cx="9044848" cy="709589"/>
          </a:xfrm>
          <a:noFill/>
          <a:ln>
            <a:noFill/>
          </a:ln>
        </p:spPr>
        <p:txBody>
          <a:bodyPr anchor="b">
            <a:noAutofit/>
          </a:bodyPr>
          <a:lstStyle/>
          <a:p>
            <a:r>
              <a:rPr lang="en-US" sz="4800" b="1" u="sng" dirty="0">
                <a:latin typeface="Calibri"/>
                <a:ea typeface="+mj-lt"/>
                <a:cs typeface="+mj-lt"/>
                <a:hlinkClick r:id="" action="ppaction://noaction">
                  <a:extLst>
                    <a:ext uri="{A12FA001-AC4F-418D-AE19-62706E023703}">
                      <ahyp:hlinkClr xmlns:ahyp="http://schemas.microsoft.com/office/drawing/2018/hyperlinkcolor" val="tx"/>
                    </a:ext>
                  </a:extLst>
                </a:hlinkClick>
              </a:rPr>
              <a:t>Connecting Spring with Database</a:t>
            </a:r>
            <a:endParaRPr lang="en-US" sz="4800" u="sng" dirty="0">
              <a:latin typeface="Calibri"/>
              <a:ea typeface="Calibri"/>
              <a:cs typeface="Calibri"/>
              <a:hlinkClick r:id="" action="ppaction://noaction">
                <a:extLst>
                  <a:ext uri="{A12FA001-AC4F-418D-AE19-62706E023703}">
                    <ahyp:hlinkClr xmlns:ahyp="http://schemas.microsoft.com/office/drawing/2018/hyperlinkcolor" val="tx"/>
                  </a:ext>
                </a:extLst>
              </a:hlinkClick>
            </a:endParaRPr>
          </a:p>
        </p:txBody>
      </p:sp>
      <p:grpSp>
        <p:nvGrpSpPr>
          <p:cNvPr id="77" name="Group 76">
            <a:extLst>
              <a:ext uri="{FF2B5EF4-FFF2-40B4-BE49-F238E27FC236}">
                <a16:creationId xmlns:a16="http://schemas.microsoft.com/office/drawing/2014/main" id="{F7F812CF-8B14-7B72-BEFD-DB9E165401F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18230" y="-43336"/>
            <a:ext cx="5163047" cy="2657478"/>
            <a:chOff x="6867015" y="-1"/>
            <a:chExt cx="5324985" cy="3251912"/>
          </a:xfrm>
          <a:solidFill>
            <a:schemeClr val="bg1">
              <a:alpha val="30000"/>
            </a:schemeClr>
          </a:solidFill>
        </p:grpSpPr>
        <p:sp>
          <p:nvSpPr>
            <p:cNvPr id="78" name="Freeform: Shape 77">
              <a:extLst>
                <a:ext uri="{FF2B5EF4-FFF2-40B4-BE49-F238E27FC236}">
                  <a16:creationId xmlns:a16="http://schemas.microsoft.com/office/drawing/2014/main" id="{46665F88-6AA9-2E4F-D1E7-D82232402F4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Freeform: Shape 78">
              <a:extLst>
                <a:ext uri="{FF2B5EF4-FFF2-40B4-BE49-F238E27FC236}">
                  <a16:creationId xmlns:a16="http://schemas.microsoft.com/office/drawing/2014/main" id="{F709A9F0-7403-D7A6-AA76-F4574C411DF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Freeform: Shape 79">
              <a:extLst>
                <a:ext uri="{FF2B5EF4-FFF2-40B4-BE49-F238E27FC236}">
                  <a16:creationId xmlns:a16="http://schemas.microsoft.com/office/drawing/2014/main" id="{EA1B3AE5-C1B7-57A9-65D0-DC9DB19EBCD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Freeform: Shape 80">
              <a:extLst>
                <a:ext uri="{FF2B5EF4-FFF2-40B4-BE49-F238E27FC236}">
                  <a16:creationId xmlns:a16="http://schemas.microsoft.com/office/drawing/2014/main" id="{1B11BD23-7CC4-A749-4997-9B85D554B53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83" name="Group 82">
            <a:extLst>
              <a:ext uri="{FF2B5EF4-FFF2-40B4-BE49-F238E27FC236}">
                <a16:creationId xmlns:a16="http://schemas.microsoft.com/office/drawing/2014/main" id="{8826DFC1-B8D6-9FD7-57D8-873EF51CA3D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a:off x="9058275" y="4146310"/>
            <a:ext cx="3142400" cy="2716805"/>
            <a:chOff x="-305" y="-4155"/>
            <a:chExt cx="2514948" cy="2174333"/>
          </a:xfrm>
          <a:solidFill>
            <a:schemeClr val="bg1">
              <a:alpha val="30000"/>
            </a:schemeClr>
          </a:solidFill>
        </p:grpSpPr>
        <p:sp>
          <p:nvSpPr>
            <p:cNvPr id="84" name="Freeform: Shape 83">
              <a:extLst>
                <a:ext uri="{FF2B5EF4-FFF2-40B4-BE49-F238E27FC236}">
                  <a16:creationId xmlns:a16="http://schemas.microsoft.com/office/drawing/2014/main" id="{380422F6-1271-DA2A-3155-AEBF67B151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 name="Freeform: Shape 84">
              <a:extLst>
                <a:ext uri="{FF2B5EF4-FFF2-40B4-BE49-F238E27FC236}">
                  <a16:creationId xmlns:a16="http://schemas.microsoft.com/office/drawing/2014/main" id="{7D745288-9C10-8EBA-26E8-94082CD36A8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Freeform: Shape 85">
              <a:extLst>
                <a:ext uri="{FF2B5EF4-FFF2-40B4-BE49-F238E27FC236}">
                  <a16:creationId xmlns:a16="http://schemas.microsoft.com/office/drawing/2014/main" id="{DD383950-3F1B-0CF7-E2DB-D260BC7BBD3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87" name="Freeform: Shape 86">
              <a:extLst>
                <a:ext uri="{FF2B5EF4-FFF2-40B4-BE49-F238E27FC236}">
                  <a16:creationId xmlns:a16="http://schemas.microsoft.com/office/drawing/2014/main" id="{3F2817D1-C975-14F5-4C7E-9B1B0CEF31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6" name="TextBox 5">
            <a:extLst>
              <a:ext uri="{FF2B5EF4-FFF2-40B4-BE49-F238E27FC236}">
                <a16:creationId xmlns:a16="http://schemas.microsoft.com/office/drawing/2014/main" id="{720EDEA3-7E11-CE11-44E4-CD758A35E581}"/>
              </a:ext>
            </a:extLst>
          </p:cNvPr>
          <p:cNvSpPr txBox="1"/>
          <p:nvPr/>
        </p:nvSpPr>
        <p:spPr>
          <a:xfrm>
            <a:off x="980502" y="2860886"/>
            <a:ext cx="9727894" cy="224676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dirty="0"/>
              <a:t>Spring Boot backend connects to the MySQL database using configurations in the </a:t>
            </a:r>
            <a:r>
              <a:rPr lang="en-US" sz="2000" dirty="0" err="1"/>
              <a:t>application.properties</a:t>
            </a:r>
            <a:r>
              <a:rPr lang="en-US" sz="2000" dirty="0"/>
              <a:t> file, including the database URL, username, and password. Each table is mapped to a Java entity class, and Spring Data JPA handles CRUD operations through repository interfaces. When the frontend sends a request, the controller receives it, and the service layer processes the business logic. The repository interacts with the database to fetch or update data. The result is then sent back through the service and controller to the frontend.</a:t>
            </a:r>
            <a:endParaRPr lang="en-US" sz="2000" b="1" dirty="0">
              <a:latin typeface="Calibri"/>
              <a:ea typeface="Calibri"/>
              <a:cs typeface="Calibri"/>
            </a:endParaRPr>
          </a:p>
        </p:txBody>
      </p:sp>
    </p:spTree>
    <p:extLst>
      <p:ext uri="{BB962C8B-B14F-4D97-AF65-F5344CB8AC3E}">
        <p14:creationId xmlns:p14="http://schemas.microsoft.com/office/powerpoint/2010/main" val="29459075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1082261-4DB1-0288-039B-4E7CB2845F54}"/>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5EC630B0-AD90-8124-E301-1D83A3529C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8A57E819-9ECC-4571-80AE-9CC1A59CEB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gradFill flip="none" rotWithShape="1">
            <a:gsLst>
              <a:gs pos="16000">
                <a:schemeClr val="accent6">
                  <a:alpha val="20000"/>
                </a:schemeClr>
              </a:gs>
              <a:gs pos="85000">
                <a:schemeClr val="accent1">
                  <a:alpha val="4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 name="Group 11">
            <a:extLst>
              <a:ext uri="{FF2B5EF4-FFF2-40B4-BE49-F238E27FC236}">
                <a16:creationId xmlns:a16="http://schemas.microsoft.com/office/drawing/2014/main" id="{4FB52126-2EE3-D683-B0CD-08B752E1B13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18230" y="-8167"/>
            <a:ext cx="4834070" cy="2488150"/>
            <a:chOff x="6867015" y="-1"/>
            <a:chExt cx="5324985" cy="3251912"/>
          </a:xfrm>
          <a:solidFill>
            <a:schemeClr val="bg1">
              <a:alpha val="30000"/>
            </a:schemeClr>
          </a:solidFill>
        </p:grpSpPr>
        <p:sp>
          <p:nvSpPr>
            <p:cNvPr id="13" name="Freeform: Shape 12">
              <a:extLst>
                <a:ext uri="{FF2B5EF4-FFF2-40B4-BE49-F238E27FC236}">
                  <a16:creationId xmlns:a16="http://schemas.microsoft.com/office/drawing/2014/main" id="{E1880AA0-E37E-D04B-DAC2-F561CC39CE7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9390B419-D5D2-BCDC-A1FE-9ACFB5C2DCE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784FC4F8-A958-EDEB-2D3D-A98310B85D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23D674E6-898C-23EA-55A5-0D803A46BC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8" name="Group 17">
            <a:extLst>
              <a:ext uri="{FF2B5EF4-FFF2-40B4-BE49-F238E27FC236}">
                <a16:creationId xmlns:a16="http://schemas.microsoft.com/office/drawing/2014/main" id="{210E62C7-93D9-1DA7-1731-7BC9F95994B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a:off x="9058275" y="4146310"/>
            <a:ext cx="3142400" cy="2716805"/>
            <a:chOff x="-305" y="-4155"/>
            <a:chExt cx="2514948" cy="2174333"/>
          </a:xfrm>
          <a:solidFill>
            <a:schemeClr val="bg1">
              <a:alpha val="30000"/>
            </a:schemeClr>
          </a:solidFill>
        </p:grpSpPr>
        <p:sp>
          <p:nvSpPr>
            <p:cNvPr id="19" name="Freeform: Shape 18">
              <a:extLst>
                <a:ext uri="{FF2B5EF4-FFF2-40B4-BE49-F238E27FC236}">
                  <a16:creationId xmlns:a16="http://schemas.microsoft.com/office/drawing/2014/main" id="{C60A8288-08AD-300E-9A4B-1A8813D2BD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6C23FA9E-6DEB-1183-EFE6-7EE612C8AF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454E0DB0-1CE0-ECDE-28A4-7BB8A4FE0DB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22" name="Freeform: Shape 21">
              <a:extLst>
                <a:ext uri="{FF2B5EF4-FFF2-40B4-BE49-F238E27FC236}">
                  <a16:creationId xmlns:a16="http://schemas.microsoft.com/office/drawing/2014/main" id="{913DBF6D-BA5A-6E7D-91C9-98DCDA90428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4" name="TextBox 23">
            <a:extLst>
              <a:ext uri="{FF2B5EF4-FFF2-40B4-BE49-F238E27FC236}">
                <a16:creationId xmlns:a16="http://schemas.microsoft.com/office/drawing/2014/main" id="{FA50823C-3DE4-97C1-7A6E-B8D38CE4FA4F}"/>
              </a:ext>
            </a:extLst>
          </p:cNvPr>
          <p:cNvSpPr txBox="1"/>
          <p:nvPr/>
        </p:nvSpPr>
        <p:spPr>
          <a:xfrm>
            <a:off x="2286927" y="404911"/>
            <a:ext cx="9518573"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4800" b="1" u="sng" dirty="0"/>
              <a:t>Connecting to Login Page</a:t>
            </a:r>
          </a:p>
        </p:txBody>
      </p:sp>
      <p:pic>
        <p:nvPicPr>
          <p:cNvPr id="3" name="Picture 2">
            <a:extLst>
              <a:ext uri="{FF2B5EF4-FFF2-40B4-BE49-F238E27FC236}">
                <a16:creationId xmlns:a16="http://schemas.microsoft.com/office/drawing/2014/main" id="{4DA7F35B-B91F-5609-2732-9AF26FCEEBE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535096" y="1235908"/>
            <a:ext cx="5270786" cy="5453349"/>
          </a:xfrm>
          <a:prstGeom prst="rect">
            <a:avLst/>
          </a:prstGeom>
        </p:spPr>
      </p:pic>
      <p:sp>
        <p:nvSpPr>
          <p:cNvPr id="5" name="TextBox 4">
            <a:extLst>
              <a:ext uri="{FF2B5EF4-FFF2-40B4-BE49-F238E27FC236}">
                <a16:creationId xmlns:a16="http://schemas.microsoft.com/office/drawing/2014/main" id="{B416F438-182C-8AFD-2E22-71F7E72ED17C}"/>
              </a:ext>
            </a:extLst>
          </p:cNvPr>
          <p:cNvSpPr txBox="1"/>
          <p:nvPr/>
        </p:nvSpPr>
        <p:spPr>
          <a:xfrm>
            <a:off x="426244" y="1859339"/>
            <a:ext cx="6108852" cy="4708981"/>
          </a:xfrm>
          <a:prstGeom prst="rect">
            <a:avLst/>
          </a:prstGeom>
          <a:noFill/>
        </p:spPr>
        <p:txBody>
          <a:bodyPr wrap="square">
            <a:spAutoFit/>
          </a:bodyPr>
          <a:lstStyle/>
          <a:p>
            <a:pPr marL="285750" indent="-285750">
              <a:buFont typeface="Wingdings" panose="05000000000000000000" pitchFamily="2" charset="2"/>
              <a:buChar char="Ø"/>
            </a:pPr>
            <a:r>
              <a:rPr lang="en-US" sz="2000" dirty="0"/>
              <a:t>When a user enters their credentials on the login page, the React frontend sends these details to the Spring Boot backend through an API request. The backend receives this request in the authentication controller, which forwards it to the authentication service. The service then interacts with the </a:t>
            </a:r>
            <a:r>
              <a:rPr lang="en-US" sz="2000" dirty="0" err="1"/>
              <a:t>UserRepository</a:t>
            </a:r>
            <a:r>
              <a:rPr lang="en-US" sz="2000" dirty="0"/>
              <a:t> to verify the credentials stored in the MySQL database. If the username and password match the stored values, the backend generates a JWT token and sends it back as a response.</a:t>
            </a:r>
          </a:p>
          <a:p>
            <a:pPr marL="285750" indent="-285750">
              <a:buFont typeface="Wingdings" panose="05000000000000000000" pitchFamily="2" charset="2"/>
              <a:buChar char="Ø"/>
            </a:pPr>
            <a:r>
              <a:rPr lang="en-US" sz="2000" dirty="0"/>
              <a:t> The React frontend receives this response, stores the token securely, and grants the user access to the home page and other features. If the credentials are invalid, an error message is returned instead.</a:t>
            </a:r>
            <a:endParaRPr lang="en-IN" sz="2000" dirty="0"/>
          </a:p>
        </p:txBody>
      </p:sp>
    </p:spTree>
    <p:extLst>
      <p:ext uri="{BB962C8B-B14F-4D97-AF65-F5344CB8AC3E}">
        <p14:creationId xmlns:p14="http://schemas.microsoft.com/office/powerpoint/2010/main" val="94168308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057543D-D8FF-EB38-926D-9A2C9550C47D}"/>
            </a:ext>
          </a:extLst>
        </p:cNvPr>
        <p:cNvGrpSpPr/>
        <p:nvPr/>
      </p:nvGrpSpPr>
      <p:grpSpPr>
        <a:xfrm>
          <a:off x="0" y="0"/>
          <a:ext cx="0" cy="0"/>
          <a:chOff x="0" y="0"/>
          <a:chExt cx="0" cy="0"/>
        </a:xfrm>
      </p:grpSpPr>
      <p:sp useBgFill="1">
        <p:nvSpPr>
          <p:cNvPr id="71" name="Rectangle 70">
            <a:extLst>
              <a:ext uri="{FF2B5EF4-FFF2-40B4-BE49-F238E27FC236}">
                <a16:creationId xmlns:a16="http://schemas.microsoft.com/office/drawing/2014/main" id="{F986A406-9A3F-B360-9527-25946EAB725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Rectangle 72">
            <a:extLst>
              <a:ext uri="{FF2B5EF4-FFF2-40B4-BE49-F238E27FC236}">
                <a16:creationId xmlns:a16="http://schemas.microsoft.com/office/drawing/2014/main" id="{9620C6B9-48C9-83CD-0939-7B55314E266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75" name="Rectangle 74">
            <a:extLst>
              <a:ext uri="{FF2B5EF4-FFF2-40B4-BE49-F238E27FC236}">
                <a16:creationId xmlns:a16="http://schemas.microsoft.com/office/drawing/2014/main" id="{72A0111D-32AA-C55C-23E7-FE288E2FF8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gradFill flip="none" rotWithShape="1">
            <a:gsLst>
              <a:gs pos="16000">
                <a:schemeClr val="accent6">
                  <a:alpha val="20000"/>
                </a:schemeClr>
              </a:gs>
              <a:gs pos="85000">
                <a:schemeClr val="accent1">
                  <a:alpha val="4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92ADE9D-E6D7-2D04-283C-D2CED308C93E}"/>
              </a:ext>
            </a:extLst>
          </p:cNvPr>
          <p:cNvSpPr>
            <a:spLocks noGrp="1"/>
          </p:cNvSpPr>
          <p:nvPr>
            <p:ph type="ctrTitle"/>
          </p:nvPr>
        </p:nvSpPr>
        <p:spPr>
          <a:xfrm>
            <a:off x="1288974" y="722128"/>
            <a:ext cx="9044848" cy="709589"/>
          </a:xfrm>
          <a:noFill/>
          <a:ln>
            <a:noFill/>
          </a:ln>
        </p:spPr>
        <p:txBody>
          <a:bodyPr anchor="b">
            <a:noAutofit/>
          </a:bodyPr>
          <a:lstStyle/>
          <a:p>
            <a:pPr algn="l"/>
            <a:r>
              <a:rPr lang="en-US" sz="4800" b="1" u="sng" dirty="0" err="1">
                <a:latin typeface="Calibri"/>
                <a:ea typeface="+mj-lt"/>
                <a:cs typeface="+mj-lt"/>
                <a:hlinkClick r:id="" action="ppaction://noaction">
                  <a:extLst>
                    <a:ext uri="{A12FA001-AC4F-418D-AE19-62706E023703}">
                      <ahyp:hlinkClr xmlns:ahyp="http://schemas.microsoft.com/office/drawing/2018/hyperlinkcolor" val="tx"/>
                    </a:ext>
                  </a:extLst>
                </a:hlinkClick>
              </a:rPr>
              <a:t>DataBase</a:t>
            </a:r>
            <a:r>
              <a:rPr lang="en-US" sz="4800" b="1" u="sng" dirty="0">
                <a:latin typeface="Calibri"/>
                <a:ea typeface="+mj-lt"/>
                <a:cs typeface="+mj-lt"/>
                <a:hlinkClick r:id="" action="ppaction://noaction">
                  <a:extLst>
                    <a:ext uri="{A12FA001-AC4F-418D-AE19-62706E023703}">
                      <ahyp:hlinkClr xmlns:ahyp="http://schemas.microsoft.com/office/drawing/2018/hyperlinkcolor" val="tx"/>
                    </a:ext>
                  </a:extLst>
                </a:hlinkClick>
              </a:rPr>
              <a:t>:</a:t>
            </a:r>
            <a:endParaRPr lang="en-US" sz="4800" u="sng" dirty="0">
              <a:latin typeface="Calibri"/>
              <a:ea typeface="Calibri"/>
              <a:cs typeface="Calibri"/>
              <a:hlinkClick r:id="" action="ppaction://noaction">
                <a:extLst>
                  <a:ext uri="{A12FA001-AC4F-418D-AE19-62706E023703}">
                    <ahyp:hlinkClr xmlns:ahyp="http://schemas.microsoft.com/office/drawing/2018/hyperlinkcolor" val="tx"/>
                  </a:ext>
                </a:extLst>
              </a:hlinkClick>
            </a:endParaRPr>
          </a:p>
        </p:txBody>
      </p:sp>
      <p:grpSp>
        <p:nvGrpSpPr>
          <p:cNvPr id="77" name="Group 76">
            <a:extLst>
              <a:ext uri="{FF2B5EF4-FFF2-40B4-BE49-F238E27FC236}">
                <a16:creationId xmlns:a16="http://schemas.microsoft.com/office/drawing/2014/main" id="{BE07B7B7-2EA9-D2BD-4E6A-BED0FEDAF21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18230" y="-43336"/>
            <a:ext cx="5163047" cy="2657478"/>
            <a:chOff x="6867015" y="-1"/>
            <a:chExt cx="5324985" cy="3251912"/>
          </a:xfrm>
          <a:solidFill>
            <a:schemeClr val="bg1">
              <a:alpha val="30000"/>
            </a:schemeClr>
          </a:solidFill>
        </p:grpSpPr>
        <p:sp>
          <p:nvSpPr>
            <p:cNvPr id="78" name="Freeform: Shape 77">
              <a:extLst>
                <a:ext uri="{FF2B5EF4-FFF2-40B4-BE49-F238E27FC236}">
                  <a16:creationId xmlns:a16="http://schemas.microsoft.com/office/drawing/2014/main" id="{77643A41-D84A-63AA-09A1-ABD763F676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Freeform: Shape 78">
              <a:extLst>
                <a:ext uri="{FF2B5EF4-FFF2-40B4-BE49-F238E27FC236}">
                  <a16:creationId xmlns:a16="http://schemas.microsoft.com/office/drawing/2014/main" id="{903EA0BB-93FD-8F4F-CAC7-8DE8F1833D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Freeform: Shape 79">
              <a:extLst>
                <a:ext uri="{FF2B5EF4-FFF2-40B4-BE49-F238E27FC236}">
                  <a16:creationId xmlns:a16="http://schemas.microsoft.com/office/drawing/2014/main" id="{D0D948DB-32DE-7DB1-3ABF-57DE5E2DA69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Freeform: Shape 80">
              <a:extLst>
                <a:ext uri="{FF2B5EF4-FFF2-40B4-BE49-F238E27FC236}">
                  <a16:creationId xmlns:a16="http://schemas.microsoft.com/office/drawing/2014/main" id="{5C81CD2D-BC9F-C030-41F2-CE16EFF1603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83" name="Group 82">
            <a:extLst>
              <a:ext uri="{FF2B5EF4-FFF2-40B4-BE49-F238E27FC236}">
                <a16:creationId xmlns:a16="http://schemas.microsoft.com/office/drawing/2014/main" id="{D04DA6FE-D001-AB2D-4B8E-E433831C5A0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a:off x="9058275" y="4146310"/>
            <a:ext cx="3142400" cy="2716805"/>
            <a:chOff x="-305" y="-4155"/>
            <a:chExt cx="2514948" cy="2174333"/>
          </a:xfrm>
          <a:solidFill>
            <a:schemeClr val="bg1">
              <a:alpha val="30000"/>
            </a:schemeClr>
          </a:solidFill>
        </p:grpSpPr>
        <p:sp>
          <p:nvSpPr>
            <p:cNvPr id="84" name="Freeform: Shape 83">
              <a:extLst>
                <a:ext uri="{FF2B5EF4-FFF2-40B4-BE49-F238E27FC236}">
                  <a16:creationId xmlns:a16="http://schemas.microsoft.com/office/drawing/2014/main" id="{DD80FD3C-8453-7DC5-0AFF-4CDCD550605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 name="Freeform: Shape 84">
              <a:extLst>
                <a:ext uri="{FF2B5EF4-FFF2-40B4-BE49-F238E27FC236}">
                  <a16:creationId xmlns:a16="http://schemas.microsoft.com/office/drawing/2014/main" id="{CF9802D8-F28F-7B07-C224-58A0A3C361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Freeform: Shape 85">
              <a:extLst>
                <a:ext uri="{FF2B5EF4-FFF2-40B4-BE49-F238E27FC236}">
                  <a16:creationId xmlns:a16="http://schemas.microsoft.com/office/drawing/2014/main" id="{F5D0B7AF-82D7-61FA-F13D-6E52538FC4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87" name="Freeform: Shape 86">
              <a:extLst>
                <a:ext uri="{FF2B5EF4-FFF2-40B4-BE49-F238E27FC236}">
                  <a16:creationId xmlns:a16="http://schemas.microsoft.com/office/drawing/2014/main" id="{28DDBD82-3645-BB58-9752-8C30D99F296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6" name="TextBox 5">
            <a:extLst>
              <a:ext uri="{FF2B5EF4-FFF2-40B4-BE49-F238E27FC236}">
                <a16:creationId xmlns:a16="http://schemas.microsoft.com/office/drawing/2014/main" id="{707DD1BC-1F42-B16F-3BCD-9399A3D20018}"/>
              </a:ext>
            </a:extLst>
          </p:cNvPr>
          <p:cNvSpPr txBox="1"/>
          <p:nvPr/>
        </p:nvSpPr>
        <p:spPr>
          <a:xfrm>
            <a:off x="881349" y="2153845"/>
            <a:ext cx="9727894" cy="397031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sz="3600" b="1" dirty="0">
              <a:latin typeface="Calibri"/>
              <a:ea typeface="Calibri"/>
              <a:cs typeface="Calibri"/>
            </a:endParaRPr>
          </a:p>
          <a:p>
            <a:endParaRPr lang="en-US" sz="3600" b="1" dirty="0">
              <a:latin typeface="Calibri"/>
              <a:ea typeface="Calibri"/>
              <a:cs typeface="Calibri"/>
            </a:endParaRPr>
          </a:p>
          <a:p>
            <a:endParaRPr lang="en-US" sz="3600" b="1" dirty="0">
              <a:latin typeface="Calibri"/>
              <a:ea typeface="Calibri"/>
              <a:cs typeface="Calibri"/>
            </a:endParaRPr>
          </a:p>
          <a:p>
            <a:endParaRPr lang="en-US" sz="3600" b="1" dirty="0">
              <a:latin typeface="Calibri"/>
              <a:ea typeface="Calibri"/>
              <a:cs typeface="Calibri"/>
            </a:endParaRPr>
          </a:p>
          <a:p>
            <a:endParaRPr lang="en-US" sz="3600" b="1" dirty="0">
              <a:latin typeface="Calibri"/>
              <a:ea typeface="Calibri"/>
              <a:cs typeface="Calibri"/>
            </a:endParaRPr>
          </a:p>
          <a:p>
            <a:endParaRPr lang="en-US" sz="3600" b="1" dirty="0">
              <a:latin typeface="Calibri"/>
              <a:ea typeface="Calibri"/>
              <a:cs typeface="Calibri"/>
            </a:endParaRPr>
          </a:p>
          <a:p>
            <a:r>
              <a:rPr lang="en-US" sz="3600" b="1" dirty="0">
                <a:latin typeface="Calibri"/>
                <a:ea typeface="Calibri"/>
                <a:cs typeface="Calibri"/>
              </a:rPr>
              <a:t> </a:t>
            </a:r>
          </a:p>
        </p:txBody>
      </p:sp>
      <p:pic>
        <p:nvPicPr>
          <p:cNvPr id="5" name="Picture 4">
            <a:extLst>
              <a:ext uri="{FF2B5EF4-FFF2-40B4-BE49-F238E27FC236}">
                <a16:creationId xmlns:a16="http://schemas.microsoft.com/office/drawing/2014/main" id="{1052BC11-5339-87FB-9900-DC9689E4D97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32877" y="1431717"/>
            <a:ext cx="10457410" cy="5038853"/>
          </a:xfrm>
          <a:prstGeom prst="rect">
            <a:avLst/>
          </a:prstGeom>
        </p:spPr>
      </p:pic>
    </p:spTree>
    <p:extLst>
      <p:ext uri="{BB962C8B-B14F-4D97-AF65-F5344CB8AC3E}">
        <p14:creationId xmlns:p14="http://schemas.microsoft.com/office/powerpoint/2010/main" val="94844486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CE05190-07AC-ADB4-F80D-FDA27C6ED035}"/>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E784EE6-9963-E061-4E69-C789F00727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833D020-8004-F532-298D-7E1864DAAB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gradFill flip="none" rotWithShape="1">
            <a:gsLst>
              <a:gs pos="16000">
                <a:schemeClr val="accent6">
                  <a:alpha val="20000"/>
                </a:schemeClr>
              </a:gs>
              <a:gs pos="85000">
                <a:schemeClr val="accent1">
                  <a:alpha val="4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 name="Group 11">
            <a:extLst>
              <a:ext uri="{FF2B5EF4-FFF2-40B4-BE49-F238E27FC236}">
                <a16:creationId xmlns:a16="http://schemas.microsoft.com/office/drawing/2014/main" id="{784CBA7F-110A-1BD5-4920-C77562DF2B9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18230" y="-8167"/>
            <a:ext cx="4834070" cy="2488150"/>
            <a:chOff x="6867015" y="-1"/>
            <a:chExt cx="5324985" cy="3251912"/>
          </a:xfrm>
          <a:solidFill>
            <a:schemeClr val="bg1">
              <a:alpha val="30000"/>
            </a:schemeClr>
          </a:solidFill>
        </p:grpSpPr>
        <p:sp>
          <p:nvSpPr>
            <p:cNvPr id="13" name="Freeform: Shape 12">
              <a:extLst>
                <a:ext uri="{FF2B5EF4-FFF2-40B4-BE49-F238E27FC236}">
                  <a16:creationId xmlns:a16="http://schemas.microsoft.com/office/drawing/2014/main" id="{46724F5B-A681-7C97-14E4-7183D9B22BE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4BBB2A2C-BE33-464D-4BF7-1FEA08210A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ABEAC282-6981-C2D3-9506-EC431DF0D0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987AC3FE-9837-104D-E0CC-1DB7FD9608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8" name="Group 17">
            <a:extLst>
              <a:ext uri="{FF2B5EF4-FFF2-40B4-BE49-F238E27FC236}">
                <a16:creationId xmlns:a16="http://schemas.microsoft.com/office/drawing/2014/main" id="{98A9AB94-C3C8-E7E1-202E-3327EA9B951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a:off x="9058275" y="4146310"/>
            <a:ext cx="3142400" cy="2716805"/>
            <a:chOff x="-305" y="-4155"/>
            <a:chExt cx="2514948" cy="2174333"/>
          </a:xfrm>
          <a:solidFill>
            <a:schemeClr val="bg1">
              <a:alpha val="30000"/>
            </a:schemeClr>
          </a:solidFill>
        </p:grpSpPr>
        <p:sp>
          <p:nvSpPr>
            <p:cNvPr id="19" name="Freeform: Shape 18">
              <a:extLst>
                <a:ext uri="{FF2B5EF4-FFF2-40B4-BE49-F238E27FC236}">
                  <a16:creationId xmlns:a16="http://schemas.microsoft.com/office/drawing/2014/main" id="{5EE0F086-2D49-7379-50C7-2C16357F7E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109FE447-E689-A80C-2777-3FD8300DFBC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9794FA17-DED9-9838-E6D6-713CF5FC0F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22" name="Freeform: Shape 21">
              <a:extLst>
                <a:ext uri="{FF2B5EF4-FFF2-40B4-BE49-F238E27FC236}">
                  <a16:creationId xmlns:a16="http://schemas.microsoft.com/office/drawing/2014/main" id="{2DECFAE3-5649-ADD6-ED4A-CB9C41B419D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 name="TextBox 3">
            <a:extLst>
              <a:ext uri="{FF2B5EF4-FFF2-40B4-BE49-F238E27FC236}">
                <a16:creationId xmlns:a16="http://schemas.microsoft.com/office/drawing/2014/main" id="{DFB082BA-F0B8-17C4-3577-8C5A7CC79FAC}"/>
              </a:ext>
            </a:extLst>
          </p:cNvPr>
          <p:cNvSpPr txBox="1"/>
          <p:nvPr/>
        </p:nvSpPr>
        <p:spPr>
          <a:xfrm>
            <a:off x="1259379" y="1692618"/>
            <a:ext cx="7449762" cy="1200329"/>
          </a:xfrm>
          <a:prstGeom prst="rect">
            <a:avLst/>
          </a:prstGeom>
          <a:noFill/>
        </p:spPr>
        <p:txBody>
          <a:bodyPr wrap="square">
            <a:spAutoFit/>
          </a:bodyPr>
          <a:lstStyle/>
          <a:p>
            <a:r>
              <a:rPr lang="en-US" sz="1800" b="1" dirty="0">
                <a:latin typeface="Calibri"/>
                <a:ea typeface="Calibri"/>
                <a:cs typeface="Calibri"/>
              </a:rPr>
              <a:t>Phase 1 : Rule-based AI</a:t>
            </a:r>
          </a:p>
          <a:p>
            <a:r>
              <a:rPr lang="en-US" sz="1800" b="1" dirty="0">
                <a:latin typeface="Calibri"/>
                <a:ea typeface="Calibri"/>
                <a:cs typeface="Calibri"/>
              </a:rPr>
              <a:t>   </a:t>
            </a:r>
            <a:r>
              <a:rPr lang="en-US" sz="1800" dirty="0">
                <a:latin typeface="Calibri"/>
                <a:ea typeface="Calibri"/>
                <a:cs typeface="Calibri"/>
              </a:rPr>
              <a:t>Pattern recognition</a:t>
            </a:r>
          </a:p>
          <a:p>
            <a:r>
              <a:rPr lang="en-US" sz="1800" dirty="0">
                <a:latin typeface="Calibri"/>
                <a:ea typeface="Calibri"/>
                <a:cs typeface="Calibri"/>
              </a:rPr>
              <a:t>   Mathematical calculations</a:t>
            </a:r>
          </a:p>
          <a:p>
            <a:r>
              <a:rPr lang="en-US" sz="1800" dirty="0">
                <a:latin typeface="Calibri"/>
                <a:ea typeface="Calibri"/>
                <a:cs typeface="Calibri"/>
              </a:rPr>
              <a:t>   Keyword matching</a:t>
            </a:r>
          </a:p>
        </p:txBody>
      </p:sp>
      <p:sp>
        <p:nvSpPr>
          <p:cNvPr id="5" name="Title 1">
            <a:extLst>
              <a:ext uri="{FF2B5EF4-FFF2-40B4-BE49-F238E27FC236}">
                <a16:creationId xmlns:a16="http://schemas.microsoft.com/office/drawing/2014/main" id="{9C2BB07C-FCEA-EF9C-DE25-6F2C05409260}"/>
              </a:ext>
            </a:extLst>
          </p:cNvPr>
          <p:cNvSpPr>
            <a:spLocks noGrp="1"/>
          </p:cNvSpPr>
          <p:nvPr/>
        </p:nvSpPr>
        <p:spPr>
          <a:xfrm>
            <a:off x="1332507" y="526319"/>
            <a:ext cx="9044848" cy="709589"/>
          </a:xfrm>
          <a:prstGeom prst="rect">
            <a:avLst/>
          </a:prstGeom>
          <a:noFill/>
          <a:ln>
            <a:noFill/>
          </a:ln>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4800" u="sng" dirty="0">
                <a:latin typeface="Calibri"/>
                <a:ea typeface="Calibri"/>
                <a:cs typeface="Calibri"/>
                <a:hlinkClick r:id="" action="ppaction://noaction">
                  <a:extLst>
                    <a:ext uri="{A12FA001-AC4F-418D-AE19-62706E023703}">
                      <ahyp:hlinkClr xmlns:ahyp="http://schemas.microsoft.com/office/drawing/2018/hyperlinkcolor" val="tx"/>
                    </a:ext>
                  </a:extLst>
                </a:hlinkClick>
              </a:rPr>
              <a:t>AI Processing work flow</a:t>
            </a:r>
          </a:p>
        </p:txBody>
      </p:sp>
      <p:sp>
        <p:nvSpPr>
          <p:cNvPr id="7" name="TextBox 6">
            <a:extLst>
              <a:ext uri="{FF2B5EF4-FFF2-40B4-BE49-F238E27FC236}">
                <a16:creationId xmlns:a16="http://schemas.microsoft.com/office/drawing/2014/main" id="{43B400EF-1B32-4706-EDF9-DB2AC4950AA4}"/>
              </a:ext>
            </a:extLst>
          </p:cNvPr>
          <p:cNvSpPr txBox="1"/>
          <p:nvPr/>
        </p:nvSpPr>
        <p:spPr>
          <a:xfrm>
            <a:off x="1323527" y="2970852"/>
            <a:ext cx="9881362" cy="1938992"/>
          </a:xfrm>
          <a:prstGeom prst="rect">
            <a:avLst/>
          </a:prstGeom>
          <a:noFill/>
        </p:spPr>
        <p:txBody>
          <a:bodyPr wrap="square">
            <a:spAutoFit/>
          </a:bodyPr>
          <a:lstStyle/>
          <a:p>
            <a:r>
              <a:rPr lang="en-US" sz="1800" b="1" dirty="0">
                <a:latin typeface="Calibri"/>
                <a:ea typeface="Calibri"/>
                <a:cs typeface="Calibri"/>
              </a:rPr>
              <a:t>User Input → Text Analysis → Pattern Recognition </a:t>
            </a:r>
          </a:p>
          <a:p>
            <a:r>
              <a:rPr lang="en-US" sz="1800" b="1" dirty="0">
                <a:latin typeface="Calibri"/>
                <a:ea typeface="Calibri"/>
                <a:cs typeface="Calibri"/>
              </a:rPr>
              <a:t>→ Context Understanding → Response Generation → UI Display</a:t>
            </a:r>
          </a:p>
          <a:p>
            <a:endParaRPr lang="en-US" sz="1200" b="1" dirty="0">
              <a:latin typeface="Calibri"/>
              <a:ea typeface="Calibri"/>
              <a:cs typeface="Calibri"/>
            </a:endParaRPr>
          </a:p>
          <a:p>
            <a:endParaRPr lang="en-US" sz="1800" b="1" dirty="0">
              <a:latin typeface="Calibri"/>
              <a:ea typeface="Calibri"/>
              <a:cs typeface="Calibri"/>
            </a:endParaRPr>
          </a:p>
          <a:p>
            <a:endParaRPr lang="en-US" sz="1800" b="1" dirty="0">
              <a:latin typeface="Calibri"/>
              <a:ea typeface="Calibri"/>
              <a:cs typeface="Calibri"/>
            </a:endParaRPr>
          </a:p>
          <a:p>
            <a:endParaRPr lang="en-US" sz="1800" b="1" dirty="0">
              <a:latin typeface="Calibri"/>
              <a:ea typeface="Calibri"/>
              <a:cs typeface="Calibri"/>
            </a:endParaRPr>
          </a:p>
          <a:p>
            <a:r>
              <a:rPr lang="en-US" sz="1800" b="1" dirty="0">
                <a:latin typeface="Calibri"/>
                <a:ea typeface="Calibri"/>
                <a:cs typeface="Calibri"/>
              </a:rPr>
              <a:t> </a:t>
            </a:r>
          </a:p>
        </p:txBody>
      </p:sp>
      <p:sp>
        <p:nvSpPr>
          <p:cNvPr id="11" name="TextBox 10">
            <a:extLst>
              <a:ext uri="{FF2B5EF4-FFF2-40B4-BE49-F238E27FC236}">
                <a16:creationId xmlns:a16="http://schemas.microsoft.com/office/drawing/2014/main" id="{DAB0CE1C-5D50-09BF-BC5A-8BA9AA44FA5B}"/>
              </a:ext>
            </a:extLst>
          </p:cNvPr>
          <p:cNvSpPr txBox="1"/>
          <p:nvPr/>
        </p:nvSpPr>
        <p:spPr>
          <a:xfrm>
            <a:off x="1332507" y="3844302"/>
            <a:ext cx="10547048" cy="923330"/>
          </a:xfrm>
          <a:prstGeom prst="rect">
            <a:avLst/>
          </a:prstGeom>
          <a:noFill/>
        </p:spPr>
        <p:txBody>
          <a:bodyPr wrap="square">
            <a:spAutoFit/>
          </a:bodyPr>
          <a:lstStyle/>
          <a:p>
            <a:r>
              <a:rPr lang="en-US" sz="1800" dirty="0"/>
              <a:t>The </a:t>
            </a:r>
            <a:r>
              <a:rPr lang="en-US" b="1" dirty="0" err="1"/>
              <a:t>AISuggestionsCard.jsx</a:t>
            </a:r>
            <a:r>
              <a:rPr lang="en-US" sz="1800" dirty="0"/>
              <a:t> component serves as the core of the AI interaction system in the </a:t>
            </a:r>
            <a:r>
              <a:rPr lang="en-US" sz="1800" dirty="0" err="1"/>
              <a:t>EventMate</a:t>
            </a:r>
            <a:r>
              <a:rPr lang="en-US" sz="1800" dirty="0"/>
              <a:t> application. It is responsible for handling user inputs, processing them intelligently, and generating real-time event suggestions</a:t>
            </a:r>
            <a:endParaRPr lang="en-IN" dirty="0"/>
          </a:p>
        </p:txBody>
      </p:sp>
      <p:sp>
        <p:nvSpPr>
          <p:cNvPr id="23" name="TextBox 22">
            <a:extLst>
              <a:ext uri="{FF2B5EF4-FFF2-40B4-BE49-F238E27FC236}">
                <a16:creationId xmlns:a16="http://schemas.microsoft.com/office/drawing/2014/main" id="{C9550C83-FD85-A3E8-00A2-1832EED09EAF}"/>
              </a:ext>
            </a:extLst>
          </p:cNvPr>
          <p:cNvSpPr txBox="1"/>
          <p:nvPr/>
        </p:nvSpPr>
        <p:spPr>
          <a:xfrm>
            <a:off x="1332507" y="4767632"/>
            <a:ext cx="6109854" cy="2739211"/>
          </a:xfrm>
          <a:prstGeom prst="rect">
            <a:avLst/>
          </a:prstGeom>
          <a:noFill/>
        </p:spPr>
        <p:txBody>
          <a:bodyPr wrap="square">
            <a:spAutoFit/>
          </a:bodyPr>
          <a:lstStyle/>
          <a:p>
            <a:r>
              <a:rPr lang="en-US" sz="2000" b="1" dirty="0">
                <a:latin typeface="Calibri"/>
                <a:ea typeface="Calibri"/>
                <a:cs typeface="Calibri"/>
              </a:rPr>
              <a:t>Key Functions:</a:t>
            </a:r>
          </a:p>
          <a:p>
            <a:endParaRPr lang="en-US" sz="2000" b="1" dirty="0">
              <a:latin typeface="Calibri"/>
              <a:ea typeface="Calibri"/>
              <a:cs typeface="Calibri"/>
            </a:endParaRPr>
          </a:p>
          <a:p>
            <a:r>
              <a:rPr lang="en-US" sz="1800" dirty="0">
                <a:latin typeface="Calibri"/>
                <a:ea typeface="Calibri"/>
                <a:cs typeface="Calibri"/>
              </a:rPr>
              <a:t>• </a:t>
            </a:r>
            <a:r>
              <a:rPr lang="en-US" sz="1800" dirty="0" err="1">
                <a:latin typeface="Calibri"/>
                <a:ea typeface="Calibri"/>
                <a:cs typeface="Calibri"/>
              </a:rPr>
              <a:t>getPersonalizedSuggestions</a:t>
            </a:r>
            <a:r>
              <a:rPr lang="en-US" sz="1800" dirty="0">
                <a:latin typeface="Calibri"/>
                <a:ea typeface="Calibri"/>
                <a:cs typeface="Calibri"/>
              </a:rPr>
              <a:t>()</a:t>
            </a:r>
          </a:p>
          <a:p>
            <a:r>
              <a:rPr lang="en-US" sz="1800" dirty="0">
                <a:latin typeface="Calibri"/>
                <a:ea typeface="Calibri"/>
                <a:cs typeface="Calibri"/>
              </a:rPr>
              <a:t>• </a:t>
            </a:r>
            <a:r>
              <a:rPr lang="en-US" sz="1800" dirty="0" err="1">
                <a:latin typeface="Calibri"/>
                <a:ea typeface="Calibri"/>
                <a:cs typeface="Calibri"/>
              </a:rPr>
              <a:t>generateSuggestions</a:t>
            </a:r>
            <a:r>
              <a:rPr lang="en-US" sz="1800" dirty="0">
                <a:latin typeface="Calibri"/>
                <a:ea typeface="Calibri"/>
                <a:cs typeface="Calibri"/>
              </a:rPr>
              <a:t>()</a:t>
            </a:r>
          </a:p>
          <a:p>
            <a:r>
              <a:rPr lang="en-US" sz="1800" dirty="0">
                <a:latin typeface="Calibri"/>
                <a:ea typeface="Calibri"/>
                <a:cs typeface="Calibri"/>
              </a:rPr>
              <a:t>• Pattern matching algorithms</a:t>
            </a:r>
          </a:p>
          <a:p>
            <a:r>
              <a:rPr lang="en-US" sz="1800" dirty="0">
                <a:latin typeface="Calibri"/>
                <a:ea typeface="Calibri"/>
                <a:cs typeface="Calibri"/>
              </a:rPr>
              <a:t>• Real-time processing simulation</a:t>
            </a:r>
          </a:p>
          <a:p>
            <a:endParaRPr lang="en-US" sz="2000" b="1" dirty="0">
              <a:latin typeface="Calibri"/>
              <a:ea typeface="Calibri"/>
              <a:cs typeface="Calibri"/>
            </a:endParaRPr>
          </a:p>
          <a:p>
            <a:endParaRPr lang="en-US" sz="2000" b="1" dirty="0">
              <a:latin typeface="Calibri"/>
              <a:ea typeface="Calibri"/>
              <a:cs typeface="Calibri"/>
            </a:endParaRPr>
          </a:p>
          <a:p>
            <a:r>
              <a:rPr lang="en-US" sz="2000" b="1" dirty="0">
                <a:latin typeface="Calibri"/>
                <a:ea typeface="Calibri"/>
                <a:cs typeface="Calibri"/>
              </a:rPr>
              <a:t> </a:t>
            </a:r>
          </a:p>
        </p:txBody>
      </p:sp>
    </p:spTree>
    <p:extLst>
      <p:ext uri="{BB962C8B-B14F-4D97-AF65-F5344CB8AC3E}">
        <p14:creationId xmlns:p14="http://schemas.microsoft.com/office/powerpoint/2010/main" val="314591882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15E8FA-7650-8402-CBBC-94559922A707}"/>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C21B474F-BF7A-FBDF-2DA2-E3CED72EB001}"/>
              </a:ext>
            </a:extLst>
          </p:cNvPr>
          <p:cNvSpPr txBox="1"/>
          <p:nvPr/>
        </p:nvSpPr>
        <p:spPr>
          <a:xfrm>
            <a:off x="300048" y="1639666"/>
            <a:ext cx="7513504" cy="175432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sz="3600" b="1" dirty="0">
              <a:latin typeface="Calibri"/>
              <a:ea typeface="Calibri"/>
              <a:cs typeface="Calibri"/>
            </a:endParaRPr>
          </a:p>
          <a:p>
            <a:endParaRPr lang="en-US" sz="3600" b="1" dirty="0">
              <a:latin typeface="Calibri"/>
              <a:ea typeface="Calibri"/>
              <a:cs typeface="Calibri"/>
            </a:endParaRPr>
          </a:p>
          <a:p>
            <a:r>
              <a:rPr lang="en-US" sz="3600" b="1" dirty="0">
                <a:latin typeface="Calibri"/>
                <a:ea typeface="Calibri"/>
                <a:cs typeface="Calibri"/>
              </a:rPr>
              <a:t> </a:t>
            </a:r>
          </a:p>
        </p:txBody>
      </p:sp>
      <p:pic>
        <p:nvPicPr>
          <p:cNvPr id="3" name="Picture 2">
            <a:extLst>
              <a:ext uri="{FF2B5EF4-FFF2-40B4-BE49-F238E27FC236}">
                <a16:creationId xmlns:a16="http://schemas.microsoft.com/office/drawing/2014/main" id="{FE85A208-9457-2172-9066-0AF6F9D8A0D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0993" y="988907"/>
            <a:ext cx="11989708" cy="4880186"/>
          </a:xfrm>
          <a:prstGeom prst="rect">
            <a:avLst/>
          </a:prstGeom>
        </p:spPr>
      </p:pic>
    </p:spTree>
    <p:extLst>
      <p:ext uri="{BB962C8B-B14F-4D97-AF65-F5344CB8AC3E}">
        <p14:creationId xmlns:p14="http://schemas.microsoft.com/office/powerpoint/2010/main" val="256284737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E8D1B0A-A56A-059F-0C16-597E8C27F591}"/>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EB8C7B2B-4A0C-C1E3-4D57-6BC3FF5BC3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87E6411-BAF7-E576-071C-F329197CA8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gradFill flip="none" rotWithShape="1">
            <a:gsLst>
              <a:gs pos="16000">
                <a:schemeClr val="accent6">
                  <a:alpha val="20000"/>
                </a:schemeClr>
              </a:gs>
              <a:gs pos="85000">
                <a:schemeClr val="accent1">
                  <a:alpha val="4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 name="Group 11">
            <a:extLst>
              <a:ext uri="{FF2B5EF4-FFF2-40B4-BE49-F238E27FC236}">
                <a16:creationId xmlns:a16="http://schemas.microsoft.com/office/drawing/2014/main" id="{EB793FBE-0EC7-B94C-AE58-2175C7082E2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18230" y="-8167"/>
            <a:ext cx="4834070" cy="2488150"/>
            <a:chOff x="6867015" y="-1"/>
            <a:chExt cx="5324985" cy="3251912"/>
          </a:xfrm>
          <a:solidFill>
            <a:schemeClr val="bg1">
              <a:alpha val="30000"/>
            </a:schemeClr>
          </a:solidFill>
        </p:grpSpPr>
        <p:sp>
          <p:nvSpPr>
            <p:cNvPr id="13" name="Freeform: Shape 12">
              <a:extLst>
                <a:ext uri="{FF2B5EF4-FFF2-40B4-BE49-F238E27FC236}">
                  <a16:creationId xmlns:a16="http://schemas.microsoft.com/office/drawing/2014/main" id="{FAEC8A97-281C-CFC7-07A3-E43737F0872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ECCAB7A1-9AB6-9239-B4E1-7D903AF7BD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BE059DFA-C88F-13EC-6871-D2EE9FD6D71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9467B79E-0A65-0A3B-A167-AD92BF3C5F9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8" name="Group 17">
            <a:extLst>
              <a:ext uri="{FF2B5EF4-FFF2-40B4-BE49-F238E27FC236}">
                <a16:creationId xmlns:a16="http://schemas.microsoft.com/office/drawing/2014/main" id="{3D3E82B1-2D03-21E9-B8CD-3839785658C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a:off x="9058275" y="4146310"/>
            <a:ext cx="3142400" cy="2716805"/>
            <a:chOff x="-305" y="-4155"/>
            <a:chExt cx="2514948" cy="2174333"/>
          </a:xfrm>
          <a:solidFill>
            <a:schemeClr val="bg1">
              <a:alpha val="30000"/>
            </a:schemeClr>
          </a:solidFill>
        </p:grpSpPr>
        <p:sp>
          <p:nvSpPr>
            <p:cNvPr id="19" name="Freeform: Shape 18">
              <a:extLst>
                <a:ext uri="{FF2B5EF4-FFF2-40B4-BE49-F238E27FC236}">
                  <a16:creationId xmlns:a16="http://schemas.microsoft.com/office/drawing/2014/main" id="{FA25A559-905A-FB9D-EB54-19700C9F071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3559F70F-1C5B-84AE-AB1B-0311159A96D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D13E60BE-F30A-A755-0A85-CD86172A77F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22" name="Freeform: Shape 21">
              <a:extLst>
                <a:ext uri="{FF2B5EF4-FFF2-40B4-BE49-F238E27FC236}">
                  <a16:creationId xmlns:a16="http://schemas.microsoft.com/office/drawing/2014/main" id="{5AFDFCC0-DDB2-C1EC-E7C0-F915B6CBFB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 name="TextBox 3">
            <a:extLst>
              <a:ext uri="{FF2B5EF4-FFF2-40B4-BE49-F238E27FC236}">
                <a16:creationId xmlns:a16="http://schemas.microsoft.com/office/drawing/2014/main" id="{068A28B1-6197-9099-43CF-906456B3A53B}"/>
              </a:ext>
            </a:extLst>
          </p:cNvPr>
          <p:cNvSpPr txBox="1"/>
          <p:nvPr/>
        </p:nvSpPr>
        <p:spPr>
          <a:xfrm>
            <a:off x="3129742" y="303025"/>
            <a:ext cx="6837218" cy="584775"/>
          </a:xfrm>
          <a:prstGeom prst="rect">
            <a:avLst/>
          </a:prstGeom>
          <a:noFill/>
        </p:spPr>
        <p:txBody>
          <a:bodyPr wrap="square">
            <a:spAutoFit/>
          </a:bodyPr>
          <a:lstStyle/>
          <a:p>
            <a:r>
              <a:rPr lang="en-US" sz="3200" u="sng" dirty="0">
                <a:latin typeface="Calibri"/>
                <a:ea typeface="Calibri"/>
                <a:cs typeface="Calibri"/>
                <a:hlinkClick r:id="" action="ppaction://noaction">
                  <a:extLst>
                    <a:ext uri="{A12FA001-AC4F-418D-AE19-62706E023703}">
                      <ahyp:hlinkClr xmlns:ahyp="http://schemas.microsoft.com/office/drawing/2018/hyperlinkcolor" val="tx"/>
                    </a:ext>
                  </a:extLst>
                </a:hlinkClick>
              </a:rPr>
              <a:t>AI Processing work flow</a:t>
            </a:r>
            <a:endParaRPr lang="en-IN" sz="3200" dirty="0"/>
          </a:p>
        </p:txBody>
      </p:sp>
      <p:sp>
        <p:nvSpPr>
          <p:cNvPr id="6" name="TextBox 5">
            <a:extLst>
              <a:ext uri="{FF2B5EF4-FFF2-40B4-BE49-F238E27FC236}">
                <a16:creationId xmlns:a16="http://schemas.microsoft.com/office/drawing/2014/main" id="{345B0D56-329D-670E-7780-D1CFD3647BB9}"/>
              </a:ext>
            </a:extLst>
          </p:cNvPr>
          <p:cNvSpPr txBox="1"/>
          <p:nvPr/>
        </p:nvSpPr>
        <p:spPr>
          <a:xfrm>
            <a:off x="1283648" y="1159748"/>
            <a:ext cx="9272847" cy="1938992"/>
          </a:xfrm>
          <a:prstGeom prst="rect">
            <a:avLst/>
          </a:prstGeom>
          <a:noFill/>
        </p:spPr>
        <p:txBody>
          <a:bodyPr wrap="square">
            <a:spAutoFit/>
          </a:bodyPr>
          <a:lstStyle/>
          <a:p>
            <a:r>
              <a:rPr lang="en-US" sz="1800" b="1" dirty="0">
                <a:latin typeface="Calibri"/>
                <a:ea typeface="Calibri"/>
                <a:cs typeface="Calibri"/>
              </a:rPr>
              <a:t>User Selects Vendor → Date Selection → Availability  Check</a:t>
            </a:r>
          </a:p>
          <a:p>
            <a:r>
              <a:rPr lang="en-US" sz="1800" b="1" dirty="0">
                <a:latin typeface="Calibri"/>
                <a:ea typeface="Calibri"/>
                <a:cs typeface="Calibri"/>
              </a:rPr>
              <a:t>→ Conflict Detection→ Alternative Suggestions→ Booking Confirmation</a:t>
            </a:r>
          </a:p>
          <a:p>
            <a:endParaRPr lang="en-US" sz="1200" b="1" dirty="0">
              <a:latin typeface="Calibri"/>
              <a:ea typeface="Calibri"/>
              <a:cs typeface="Calibri"/>
            </a:endParaRPr>
          </a:p>
          <a:p>
            <a:endParaRPr lang="en-US" sz="1800" b="1" dirty="0">
              <a:latin typeface="Calibri"/>
              <a:ea typeface="Calibri"/>
              <a:cs typeface="Calibri"/>
            </a:endParaRPr>
          </a:p>
          <a:p>
            <a:endParaRPr lang="en-US" sz="1800" b="1" dirty="0">
              <a:latin typeface="Calibri"/>
              <a:ea typeface="Calibri"/>
              <a:cs typeface="Calibri"/>
            </a:endParaRPr>
          </a:p>
          <a:p>
            <a:endParaRPr lang="en-US" sz="1800" b="1" dirty="0">
              <a:latin typeface="Calibri"/>
              <a:ea typeface="Calibri"/>
              <a:cs typeface="Calibri"/>
            </a:endParaRPr>
          </a:p>
          <a:p>
            <a:r>
              <a:rPr lang="en-US" sz="1800" b="1" dirty="0">
                <a:latin typeface="Calibri"/>
                <a:ea typeface="Calibri"/>
                <a:cs typeface="Calibri"/>
              </a:rPr>
              <a:t> </a:t>
            </a:r>
          </a:p>
        </p:txBody>
      </p:sp>
      <p:sp>
        <p:nvSpPr>
          <p:cNvPr id="9" name="TextBox 8">
            <a:extLst>
              <a:ext uri="{FF2B5EF4-FFF2-40B4-BE49-F238E27FC236}">
                <a16:creationId xmlns:a16="http://schemas.microsoft.com/office/drawing/2014/main" id="{A785E5E5-4D23-09B3-4E5C-FF951A82BF6B}"/>
              </a:ext>
            </a:extLst>
          </p:cNvPr>
          <p:cNvSpPr txBox="1"/>
          <p:nvPr/>
        </p:nvSpPr>
        <p:spPr>
          <a:xfrm>
            <a:off x="1282885" y="2080280"/>
            <a:ext cx="8764117" cy="4062651"/>
          </a:xfrm>
          <a:prstGeom prst="rect">
            <a:avLst/>
          </a:prstGeom>
          <a:noFill/>
        </p:spPr>
        <p:txBody>
          <a:bodyPr wrap="square">
            <a:spAutoFit/>
          </a:bodyPr>
          <a:lstStyle/>
          <a:p>
            <a:pPr>
              <a:buNone/>
            </a:pPr>
            <a:r>
              <a:rPr lang="en-US" sz="2400" b="1" dirty="0"/>
              <a:t>1. Availability Check Algorithm</a:t>
            </a:r>
          </a:p>
          <a:p>
            <a:pPr>
              <a:buNone/>
            </a:pPr>
            <a:r>
              <a:rPr lang="en-US" sz="1800" b="1" dirty="0"/>
              <a:t>Objective:</a:t>
            </a:r>
            <a:br>
              <a:rPr lang="en-US" sz="1800" dirty="0"/>
            </a:br>
            <a:r>
              <a:rPr lang="en-US" sz="1800" dirty="0"/>
              <a:t>To verify whether a vendor is available on a selected date and time before confirming a booking.</a:t>
            </a:r>
          </a:p>
          <a:p>
            <a:pPr>
              <a:buNone/>
            </a:pPr>
            <a:r>
              <a:rPr lang="en-US" sz="1800" b="1" dirty="0"/>
              <a:t>Process:</a:t>
            </a:r>
            <a:endParaRPr lang="en-US" sz="1800" dirty="0"/>
          </a:p>
          <a:p>
            <a:pPr>
              <a:buFont typeface="Arial" panose="020B0604020202020204" pitchFamily="34" charset="0"/>
              <a:buChar char="•"/>
            </a:pPr>
            <a:r>
              <a:rPr lang="en-US" sz="1800" dirty="0"/>
              <a:t>User selects vendor and date/time.</a:t>
            </a:r>
          </a:p>
          <a:p>
            <a:pPr>
              <a:buFont typeface="Arial" panose="020B0604020202020204" pitchFamily="34" charset="0"/>
              <a:buChar char="•"/>
            </a:pPr>
            <a:r>
              <a:rPr lang="en-US" sz="1800" dirty="0"/>
              <a:t>System queries the vendor’s booking database.</a:t>
            </a:r>
          </a:p>
          <a:p>
            <a:pPr>
              <a:buFont typeface="Arial" panose="020B0604020202020204" pitchFamily="34" charset="0"/>
              <a:buChar char="•"/>
            </a:pPr>
            <a:r>
              <a:rPr lang="en-US" sz="1800" dirty="0"/>
              <a:t>Checks for overlapping time slots using timestamp comparison.</a:t>
            </a:r>
          </a:p>
          <a:p>
            <a:pPr>
              <a:buFont typeface="Arial" panose="020B0604020202020204" pitchFamily="34" charset="0"/>
              <a:buChar char="•"/>
            </a:pPr>
            <a:r>
              <a:rPr lang="en-US" sz="1800" dirty="0"/>
              <a:t>If slot is free → proceed to booking.</a:t>
            </a:r>
          </a:p>
          <a:p>
            <a:pPr>
              <a:buFont typeface="Arial" panose="020B0604020202020204" pitchFamily="34" charset="0"/>
              <a:buChar char="•"/>
            </a:pPr>
            <a:r>
              <a:rPr lang="en-US" sz="1800" dirty="0"/>
              <a:t>If slot is occupied → trigger conflict detection.</a:t>
            </a:r>
          </a:p>
          <a:p>
            <a:pPr>
              <a:buNone/>
            </a:pPr>
            <a:r>
              <a:rPr lang="en-US" sz="1800" b="1" dirty="0"/>
              <a:t>Key Features:</a:t>
            </a:r>
            <a:endParaRPr lang="en-US" sz="1800" dirty="0"/>
          </a:p>
          <a:p>
            <a:pPr>
              <a:buFont typeface="Arial" panose="020B0604020202020204" pitchFamily="34" charset="0"/>
              <a:buChar char="•"/>
            </a:pPr>
            <a:r>
              <a:rPr lang="en-US" sz="1800" dirty="0"/>
              <a:t>Real-time database verification.</a:t>
            </a:r>
          </a:p>
          <a:p>
            <a:pPr>
              <a:buFont typeface="Arial" panose="020B0604020202020204" pitchFamily="34" charset="0"/>
              <a:buChar char="•"/>
            </a:pPr>
            <a:r>
              <a:rPr lang="en-US" sz="1800" dirty="0"/>
              <a:t>Time complexity optimized with indexed date queries.</a:t>
            </a:r>
          </a:p>
          <a:p>
            <a:pPr>
              <a:buFont typeface="Arial" panose="020B0604020202020204" pitchFamily="34" charset="0"/>
              <a:buChar char="•"/>
            </a:pPr>
            <a:r>
              <a:rPr lang="en-US" sz="1800" dirty="0"/>
              <a:t>Handles multiple requests concurrently.</a:t>
            </a:r>
          </a:p>
        </p:txBody>
      </p:sp>
    </p:spTree>
    <p:extLst>
      <p:ext uri="{BB962C8B-B14F-4D97-AF65-F5344CB8AC3E}">
        <p14:creationId xmlns:p14="http://schemas.microsoft.com/office/powerpoint/2010/main" val="278932937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B35C595-D116-ADC6-F4A5-539A719AA28C}"/>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F57737A-92F0-B22C-3856-877E33DBDA5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77441D8F-87E8-F27E-4D54-4976F1F18A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gradFill flip="none" rotWithShape="1">
            <a:gsLst>
              <a:gs pos="16000">
                <a:schemeClr val="accent6">
                  <a:alpha val="20000"/>
                </a:schemeClr>
              </a:gs>
              <a:gs pos="85000">
                <a:schemeClr val="accent1">
                  <a:alpha val="4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 name="Group 11">
            <a:extLst>
              <a:ext uri="{FF2B5EF4-FFF2-40B4-BE49-F238E27FC236}">
                <a16:creationId xmlns:a16="http://schemas.microsoft.com/office/drawing/2014/main" id="{248F5331-BF9B-D090-B8D6-CBA0EC65317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18230" y="-8167"/>
            <a:ext cx="4834070" cy="2488150"/>
            <a:chOff x="6867015" y="-1"/>
            <a:chExt cx="5324985" cy="3251912"/>
          </a:xfrm>
          <a:solidFill>
            <a:schemeClr val="bg1">
              <a:alpha val="30000"/>
            </a:schemeClr>
          </a:solidFill>
        </p:grpSpPr>
        <p:sp>
          <p:nvSpPr>
            <p:cNvPr id="13" name="Freeform: Shape 12">
              <a:extLst>
                <a:ext uri="{FF2B5EF4-FFF2-40B4-BE49-F238E27FC236}">
                  <a16:creationId xmlns:a16="http://schemas.microsoft.com/office/drawing/2014/main" id="{6F230CEC-E901-6784-1E04-ED3D8034CB3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3EF67E27-C3EB-7BA4-9C30-3EC75FE92D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A98C8EA5-4A38-6C10-B1DB-99884C4B331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8967022C-7C4E-6231-7105-8BFA1E8D62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8" name="Group 17">
            <a:extLst>
              <a:ext uri="{FF2B5EF4-FFF2-40B4-BE49-F238E27FC236}">
                <a16:creationId xmlns:a16="http://schemas.microsoft.com/office/drawing/2014/main" id="{B8CA7B2A-B6A9-7500-A655-49A65633EF3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a:off x="9058275" y="4146310"/>
            <a:ext cx="3142400" cy="2716805"/>
            <a:chOff x="-305" y="-4155"/>
            <a:chExt cx="2514948" cy="2174333"/>
          </a:xfrm>
          <a:solidFill>
            <a:schemeClr val="bg1">
              <a:alpha val="30000"/>
            </a:schemeClr>
          </a:solidFill>
        </p:grpSpPr>
        <p:sp>
          <p:nvSpPr>
            <p:cNvPr id="19" name="Freeform: Shape 18">
              <a:extLst>
                <a:ext uri="{FF2B5EF4-FFF2-40B4-BE49-F238E27FC236}">
                  <a16:creationId xmlns:a16="http://schemas.microsoft.com/office/drawing/2014/main" id="{B088AC80-7DCA-F159-8DF0-395A88B00AF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A090B1D7-60AB-59E1-A79B-900BCACE966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A31A882A-CD68-9696-68D2-EE4083D652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22" name="Freeform: Shape 21">
              <a:extLst>
                <a:ext uri="{FF2B5EF4-FFF2-40B4-BE49-F238E27FC236}">
                  <a16:creationId xmlns:a16="http://schemas.microsoft.com/office/drawing/2014/main" id="{2E1C7E4F-6190-FEAF-FEDB-E82A1BBCA4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4" name="TextBox 23">
            <a:extLst>
              <a:ext uri="{FF2B5EF4-FFF2-40B4-BE49-F238E27FC236}">
                <a16:creationId xmlns:a16="http://schemas.microsoft.com/office/drawing/2014/main" id="{DF9D37BB-D9E3-436A-25C0-6C081FBA7119}"/>
              </a:ext>
            </a:extLst>
          </p:cNvPr>
          <p:cNvSpPr txBox="1"/>
          <p:nvPr/>
        </p:nvSpPr>
        <p:spPr>
          <a:xfrm>
            <a:off x="859317" y="404911"/>
            <a:ext cx="10946184"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sz="4800" b="1" u="sng" dirty="0"/>
          </a:p>
        </p:txBody>
      </p:sp>
      <p:sp>
        <p:nvSpPr>
          <p:cNvPr id="4" name="TextBox 3">
            <a:extLst>
              <a:ext uri="{FF2B5EF4-FFF2-40B4-BE49-F238E27FC236}">
                <a16:creationId xmlns:a16="http://schemas.microsoft.com/office/drawing/2014/main" id="{868F9A99-60CF-EDC4-289D-A45CBE1FA6DA}"/>
              </a:ext>
            </a:extLst>
          </p:cNvPr>
          <p:cNvSpPr txBox="1"/>
          <p:nvPr/>
        </p:nvSpPr>
        <p:spPr>
          <a:xfrm>
            <a:off x="1766453" y="1242426"/>
            <a:ext cx="7460673" cy="4401205"/>
          </a:xfrm>
          <a:prstGeom prst="rect">
            <a:avLst/>
          </a:prstGeom>
          <a:noFill/>
        </p:spPr>
        <p:txBody>
          <a:bodyPr wrap="square">
            <a:spAutoFit/>
          </a:bodyPr>
          <a:lstStyle/>
          <a:p>
            <a:pPr>
              <a:buNone/>
            </a:pPr>
            <a:r>
              <a:rPr lang="en-US" sz="2000" b="1" dirty="0"/>
              <a:t>2. Smart Alternative Matching</a:t>
            </a:r>
          </a:p>
          <a:p>
            <a:pPr>
              <a:buNone/>
            </a:pPr>
            <a:r>
              <a:rPr lang="en-US" sz="2000" b="1" dirty="0"/>
              <a:t>Objective:</a:t>
            </a:r>
            <a:br>
              <a:rPr lang="en-US" sz="2000" dirty="0"/>
            </a:br>
            <a:r>
              <a:rPr lang="en-US" sz="2000" dirty="0"/>
              <a:t>Suggest suitable alternative vendors automatically when the preferred one is unavailable.</a:t>
            </a:r>
          </a:p>
          <a:p>
            <a:pPr>
              <a:buNone/>
            </a:pPr>
            <a:r>
              <a:rPr lang="en-US" sz="2000" b="1" dirty="0"/>
              <a:t>Matching Criteria:</a:t>
            </a:r>
            <a:endParaRPr lang="en-US" sz="2000" dirty="0"/>
          </a:p>
          <a:p>
            <a:pPr>
              <a:buFont typeface="Arial" panose="020B0604020202020204" pitchFamily="34" charset="0"/>
              <a:buChar char="•"/>
            </a:pPr>
            <a:r>
              <a:rPr lang="en-US" sz="2000" dirty="0"/>
              <a:t>Category similarity (e.g., same service type).</a:t>
            </a:r>
          </a:p>
          <a:p>
            <a:pPr>
              <a:buFont typeface="Arial" panose="020B0604020202020204" pitchFamily="34" charset="0"/>
              <a:buChar char="•"/>
            </a:pPr>
            <a:r>
              <a:rPr lang="en-US" sz="2000" dirty="0"/>
              <a:t>Location proximity (distance-based sorting).</a:t>
            </a:r>
          </a:p>
          <a:p>
            <a:pPr>
              <a:buFont typeface="Arial" panose="020B0604020202020204" pitchFamily="34" charset="0"/>
              <a:buChar char="•"/>
            </a:pPr>
            <a:r>
              <a:rPr lang="en-US" sz="2000" dirty="0"/>
              <a:t>Price range tolerance (within ±10% of original vendor).</a:t>
            </a:r>
          </a:p>
          <a:p>
            <a:pPr>
              <a:buFont typeface="Arial" panose="020B0604020202020204" pitchFamily="34" charset="0"/>
              <a:buChar char="•"/>
            </a:pPr>
            <a:r>
              <a:rPr lang="en-US" sz="2000" dirty="0"/>
              <a:t>Customer ratings &amp; reliability score.</a:t>
            </a:r>
          </a:p>
          <a:p>
            <a:pPr>
              <a:buFont typeface="Arial" panose="020B0604020202020204" pitchFamily="34" charset="0"/>
              <a:buChar char="•"/>
            </a:pPr>
            <a:r>
              <a:rPr lang="en-US" sz="2000" dirty="0"/>
              <a:t>Availability during the requested time window.</a:t>
            </a:r>
          </a:p>
          <a:p>
            <a:pPr>
              <a:buNone/>
            </a:pPr>
            <a:r>
              <a:rPr lang="en-US" sz="2000" b="1" dirty="0"/>
              <a:t>Algorithmic Approach:</a:t>
            </a:r>
            <a:endParaRPr lang="en-US" sz="2000" dirty="0"/>
          </a:p>
          <a:p>
            <a:pPr>
              <a:buFont typeface="Arial" panose="020B0604020202020204" pitchFamily="34" charset="0"/>
              <a:buChar char="•"/>
            </a:pPr>
            <a:r>
              <a:rPr lang="en-US" sz="2000" dirty="0"/>
              <a:t>Uses weighted scoring system to rank alternatives.</a:t>
            </a:r>
          </a:p>
          <a:p>
            <a:pPr>
              <a:buFont typeface="Arial" panose="020B0604020202020204" pitchFamily="34" charset="0"/>
              <a:buChar char="•"/>
            </a:pPr>
            <a:r>
              <a:rPr lang="en-US" sz="2000" dirty="0"/>
              <a:t>Employs AI/ML model (optional) for personalized recommendations.</a:t>
            </a:r>
          </a:p>
        </p:txBody>
      </p:sp>
    </p:spTree>
    <p:extLst>
      <p:ext uri="{BB962C8B-B14F-4D97-AF65-F5344CB8AC3E}">
        <p14:creationId xmlns:p14="http://schemas.microsoft.com/office/powerpoint/2010/main" val="76451078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AFD7E9E-C2B4-384E-F84B-92FBF3DBD5D4}"/>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FB6196B-F525-CCB1-8B62-2E41DFC14D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FD9CAF83-5B97-3053-55C3-FD592C313E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gradFill flip="none" rotWithShape="1">
            <a:gsLst>
              <a:gs pos="16000">
                <a:schemeClr val="accent6">
                  <a:alpha val="20000"/>
                </a:schemeClr>
              </a:gs>
              <a:gs pos="85000">
                <a:schemeClr val="accent1">
                  <a:alpha val="4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 name="Group 11">
            <a:extLst>
              <a:ext uri="{FF2B5EF4-FFF2-40B4-BE49-F238E27FC236}">
                <a16:creationId xmlns:a16="http://schemas.microsoft.com/office/drawing/2014/main" id="{9879135E-E76F-9620-612E-35CB640AA9A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18230" y="-8167"/>
            <a:ext cx="4834070" cy="2488150"/>
            <a:chOff x="6867015" y="-1"/>
            <a:chExt cx="5324985" cy="3251912"/>
          </a:xfrm>
          <a:solidFill>
            <a:schemeClr val="bg1">
              <a:alpha val="30000"/>
            </a:schemeClr>
          </a:solidFill>
        </p:grpSpPr>
        <p:sp>
          <p:nvSpPr>
            <p:cNvPr id="13" name="Freeform: Shape 12">
              <a:extLst>
                <a:ext uri="{FF2B5EF4-FFF2-40B4-BE49-F238E27FC236}">
                  <a16:creationId xmlns:a16="http://schemas.microsoft.com/office/drawing/2014/main" id="{1498C982-5EF2-7E5A-A9DF-625AA0A44AB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052DC774-AEC6-7B85-D662-73F59648F4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96155CD7-75A0-8293-BDE0-04C8B46D41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6FF5A820-0B53-F160-6846-79FB264048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8" name="Group 17">
            <a:extLst>
              <a:ext uri="{FF2B5EF4-FFF2-40B4-BE49-F238E27FC236}">
                <a16:creationId xmlns:a16="http://schemas.microsoft.com/office/drawing/2014/main" id="{C409AD50-2C72-F84F-2FA3-F028DE5AD30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a:off x="9058275" y="4146310"/>
            <a:ext cx="3142400" cy="2716805"/>
            <a:chOff x="-305" y="-4155"/>
            <a:chExt cx="2514948" cy="2174333"/>
          </a:xfrm>
          <a:solidFill>
            <a:schemeClr val="bg1">
              <a:alpha val="30000"/>
            </a:schemeClr>
          </a:solidFill>
        </p:grpSpPr>
        <p:sp>
          <p:nvSpPr>
            <p:cNvPr id="19" name="Freeform: Shape 18">
              <a:extLst>
                <a:ext uri="{FF2B5EF4-FFF2-40B4-BE49-F238E27FC236}">
                  <a16:creationId xmlns:a16="http://schemas.microsoft.com/office/drawing/2014/main" id="{E53DC7A8-C083-54E1-5839-DC5FD44F735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60801B0A-A74A-7080-92AD-34DA124BE5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1A31559A-E815-F8B4-51FE-38DF8BF822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22" name="Freeform: Shape 21">
              <a:extLst>
                <a:ext uri="{FF2B5EF4-FFF2-40B4-BE49-F238E27FC236}">
                  <a16:creationId xmlns:a16="http://schemas.microsoft.com/office/drawing/2014/main" id="{4B508CFE-B309-D1DF-3E34-7FC4CB1BC0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 name="TextBox 3">
            <a:extLst>
              <a:ext uri="{FF2B5EF4-FFF2-40B4-BE49-F238E27FC236}">
                <a16:creationId xmlns:a16="http://schemas.microsoft.com/office/drawing/2014/main" id="{78D94568-4514-0081-82AD-1778501BA71B}"/>
              </a:ext>
            </a:extLst>
          </p:cNvPr>
          <p:cNvSpPr txBox="1"/>
          <p:nvPr/>
        </p:nvSpPr>
        <p:spPr>
          <a:xfrm>
            <a:off x="1226127" y="258901"/>
            <a:ext cx="8474825" cy="2246769"/>
          </a:xfrm>
          <a:prstGeom prst="rect">
            <a:avLst/>
          </a:prstGeom>
          <a:noFill/>
        </p:spPr>
        <p:txBody>
          <a:bodyPr wrap="square">
            <a:spAutoFit/>
          </a:bodyPr>
          <a:lstStyle/>
          <a:p>
            <a:pPr>
              <a:buNone/>
            </a:pPr>
            <a:r>
              <a:rPr lang="en-US" sz="2000" b="1" dirty="0"/>
              <a:t>3. Smart Alternative Matching </a:t>
            </a:r>
          </a:p>
          <a:p>
            <a:pPr>
              <a:buNone/>
            </a:pPr>
            <a:r>
              <a:rPr lang="en-US" sz="2000" b="1" dirty="0"/>
              <a:t>Extended Workflow:</a:t>
            </a:r>
            <a:endParaRPr lang="en-US" sz="2000" dirty="0"/>
          </a:p>
          <a:p>
            <a:pPr>
              <a:buFont typeface="+mj-lt"/>
              <a:buAutoNum type="arabicPeriod"/>
            </a:pPr>
            <a:r>
              <a:rPr lang="en-US" sz="2000" dirty="0"/>
              <a:t>Collect user preference data (category, price, ratings).</a:t>
            </a:r>
          </a:p>
          <a:p>
            <a:pPr>
              <a:buFont typeface="+mj-lt"/>
              <a:buAutoNum type="arabicPeriod"/>
            </a:pPr>
            <a:r>
              <a:rPr lang="en-US" sz="2000" dirty="0"/>
              <a:t>Fetch vendor list meeting base criteria.</a:t>
            </a:r>
          </a:p>
          <a:p>
            <a:pPr>
              <a:buFont typeface="+mj-lt"/>
              <a:buAutoNum type="arabicPeriod"/>
            </a:pPr>
            <a:r>
              <a:rPr lang="en-US" sz="2000" dirty="0"/>
              <a:t>Calculate similarity score using weighted attributes.</a:t>
            </a:r>
          </a:p>
          <a:p>
            <a:pPr>
              <a:buFont typeface="+mj-lt"/>
              <a:buAutoNum type="arabicPeriod"/>
            </a:pPr>
            <a:r>
              <a:rPr lang="en-US" sz="2000" dirty="0"/>
              <a:t>Sort and present top 3–5 matches to user.</a:t>
            </a:r>
          </a:p>
          <a:p>
            <a:pPr>
              <a:buFont typeface="+mj-lt"/>
              <a:buAutoNum type="arabicPeriod"/>
            </a:pPr>
            <a:r>
              <a:rPr lang="en-US" sz="2000" dirty="0"/>
              <a:t>Offer one-click booking for selected alternative.</a:t>
            </a:r>
          </a:p>
        </p:txBody>
      </p:sp>
      <p:sp>
        <p:nvSpPr>
          <p:cNvPr id="6" name="TextBox 5">
            <a:extLst>
              <a:ext uri="{FF2B5EF4-FFF2-40B4-BE49-F238E27FC236}">
                <a16:creationId xmlns:a16="http://schemas.microsoft.com/office/drawing/2014/main" id="{A274F567-657E-8EAF-F6E5-B5B60B3ADC99}"/>
              </a:ext>
            </a:extLst>
          </p:cNvPr>
          <p:cNvSpPr txBox="1"/>
          <p:nvPr/>
        </p:nvSpPr>
        <p:spPr>
          <a:xfrm>
            <a:off x="1199488" y="2730266"/>
            <a:ext cx="10983798" cy="4093428"/>
          </a:xfrm>
          <a:prstGeom prst="rect">
            <a:avLst/>
          </a:prstGeom>
          <a:noFill/>
        </p:spPr>
        <p:txBody>
          <a:bodyPr wrap="square">
            <a:spAutoFit/>
          </a:bodyPr>
          <a:lstStyle/>
          <a:p>
            <a:pPr>
              <a:buNone/>
            </a:pPr>
            <a:r>
              <a:rPr lang="en-US" sz="2000" b="1" dirty="0"/>
              <a:t>4. Conflict Detection Process</a:t>
            </a:r>
          </a:p>
          <a:p>
            <a:pPr>
              <a:buNone/>
            </a:pPr>
            <a:r>
              <a:rPr lang="en-US" sz="2000" b="1" dirty="0"/>
              <a:t>Objective:</a:t>
            </a:r>
            <a:br>
              <a:rPr lang="en-US" sz="2000" dirty="0"/>
            </a:br>
            <a:r>
              <a:rPr lang="en-US" sz="2000" dirty="0"/>
              <a:t>Identify and manage double-booking or overlapping time slots efficiently.</a:t>
            </a:r>
          </a:p>
          <a:p>
            <a:pPr>
              <a:buNone/>
            </a:pPr>
            <a:r>
              <a:rPr lang="en-US" sz="2000" b="1" dirty="0"/>
              <a:t>Workflow:</a:t>
            </a:r>
            <a:endParaRPr lang="en-US" sz="2000" dirty="0"/>
          </a:p>
          <a:p>
            <a:pPr>
              <a:buFont typeface="Arial" panose="020B0604020202020204" pitchFamily="34" charset="0"/>
              <a:buChar char="•"/>
            </a:pPr>
            <a:r>
              <a:rPr lang="en-US" sz="2000" dirty="0"/>
              <a:t>Each booking request runs through a </a:t>
            </a:r>
            <a:r>
              <a:rPr lang="en-US" sz="2000" b="1" dirty="0"/>
              <a:t>conflict check module</a:t>
            </a:r>
            <a:r>
              <a:rPr lang="en-US" sz="2000" dirty="0"/>
              <a:t>.</a:t>
            </a:r>
          </a:p>
          <a:p>
            <a:pPr>
              <a:buFont typeface="Arial" panose="020B0604020202020204" pitchFamily="34" charset="0"/>
              <a:buChar char="•"/>
            </a:pPr>
            <a:r>
              <a:rPr lang="en-US" sz="2000" dirty="0"/>
              <a:t>Compares requested time window against all existing vendor bookings.</a:t>
            </a:r>
          </a:p>
          <a:p>
            <a:pPr>
              <a:buFont typeface="Arial" panose="020B0604020202020204" pitchFamily="34" charset="0"/>
              <a:buChar char="•"/>
            </a:pPr>
            <a:r>
              <a:rPr lang="en-US" sz="2000" dirty="0"/>
              <a:t>Detects </a:t>
            </a:r>
            <a:r>
              <a:rPr lang="en-US" sz="2000" b="1" dirty="0"/>
              <a:t>overlaps</a:t>
            </a:r>
            <a:r>
              <a:rPr lang="en-US" sz="2000" dirty="0"/>
              <a:t> using interval comparison (</a:t>
            </a:r>
            <a:r>
              <a:rPr lang="en-US" sz="2000" dirty="0">
                <a:latin typeface="Courier New" panose="02070309020205020404" pitchFamily="49" charset="0"/>
              </a:rPr>
              <a:t>start1 &lt; end2 &amp;&amp; start2 &lt; end1</a:t>
            </a:r>
            <a:r>
              <a:rPr lang="en-US" sz="2000" dirty="0"/>
              <a:t>).</a:t>
            </a:r>
          </a:p>
          <a:p>
            <a:pPr>
              <a:buFont typeface="Arial" panose="020B0604020202020204" pitchFamily="34" charset="0"/>
              <a:buChar char="•"/>
            </a:pPr>
            <a:r>
              <a:rPr lang="en-US" sz="2000" dirty="0"/>
              <a:t>If conflict exists → notify user &amp; invoke alternative matching engine.</a:t>
            </a:r>
          </a:p>
          <a:p>
            <a:pPr>
              <a:buFont typeface="Arial" panose="020B0604020202020204" pitchFamily="34" charset="0"/>
              <a:buChar char="•"/>
            </a:pPr>
            <a:r>
              <a:rPr lang="en-US" sz="2000" dirty="0"/>
              <a:t>Else → confirm booking and lock time slot.</a:t>
            </a:r>
          </a:p>
          <a:p>
            <a:pPr>
              <a:buNone/>
            </a:pPr>
            <a:r>
              <a:rPr lang="en-US" sz="2000" b="1" dirty="0"/>
              <a:t>Highlights:</a:t>
            </a:r>
            <a:endParaRPr lang="en-US" sz="2000" dirty="0"/>
          </a:p>
          <a:p>
            <a:pPr>
              <a:buFont typeface="Arial" panose="020B0604020202020204" pitchFamily="34" charset="0"/>
              <a:buChar char="•"/>
            </a:pPr>
            <a:r>
              <a:rPr lang="en-US" sz="2000" dirty="0"/>
              <a:t>Prevents double-booking errors.</a:t>
            </a:r>
          </a:p>
          <a:p>
            <a:pPr>
              <a:buFont typeface="Arial" panose="020B0604020202020204" pitchFamily="34" charset="0"/>
              <a:buChar char="•"/>
            </a:pPr>
            <a:r>
              <a:rPr lang="en-US" sz="2000" dirty="0"/>
              <a:t>Maintains booking integrity across all vendors.</a:t>
            </a:r>
          </a:p>
          <a:p>
            <a:pPr>
              <a:buFont typeface="Arial" panose="020B0604020202020204" pitchFamily="34" charset="0"/>
              <a:buChar char="•"/>
            </a:pPr>
            <a:r>
              <a:rPr lang="en-US" sz="2000" dirty="0"/>
              <a:t>Logs conflict data for analytics and system improvement.</a:t>
            </a:r>
          </a:p>
        </p:txBody>
      </p:sp>
    </p:spTree>
    <p:extLst>
      <p:ext uri="{BB962C8B-B14F-4D97-AF65-F5344CB8AC3E}">
        <p14:creationId xmlns:p14="http://schemas.microsoft.com/office/powerpoint/2010/main" val="87968632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D6B25A9-766C-0DB6-1263-317F3C52599B}"/>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ED1CAA-7D28-FD8F-A23C-2A56C3DA64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17EFA90C-A07C-C5B5-2B2A-DF350FEDBF3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gradFill flip="none" rotWithShape="1">
            <a:gsLst>
              <a:gs pos="16000">
                <a:schemeClr val="accent6">
                  <a:alpha val="20000"/>
                </a:schemeClr>
              </a:gs>
              <a:gs pos="85000">
                <a:schemeClr val="accent1">
                  <a:alpha val="4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 name="Group 11">
            <a:extLst>
              <a:ext uri="{FF2B5EF4-FFF2-40B4-BE49-F238E27FC236}">
                <a16:creationId xmlns:a16="http://schemas.microsoft.com/office/drawing/2014/main" id="{A6480D17-DD74-F489-CC7A-7FF949448FA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18230" y="-8167"/>
            <a:ext cx="4834070" cy="2488150"/>
            <a:chOff x="6867015" y="-1"/>
            <a:chExt cx="5324985" cy="3251912"/>
          </a:xfrm>
          <a:solidFill>
            <a:schemeClr val="bg1">
              <a:alpha val="30000"/>
            </a:schemeClr>
          </a:solidFill>
        </p:grpSpPr>
        <p:sp>
          <p:nvSpPr>
            <p:cNvPr id="13" name="Freeform: Shape 12">
              <a:extLst>
                <a:ext uri="{FF2B5EF4-FFF2-40B4-BE49-F238E27FC236}">
                  <a16:creationId xmlns:a16="http://schemas.microsoft.com/office/drawing/2014/main" id="{876769FC-E532-C056-B71E-72A5816D4CC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9430C83A-0D0D-A338-81AB-E2305B1A79F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1A0C8714-8C64-2E25-3B07-E8E18E00E6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A46F4F6F-5608-E134-6565-F7C886FF245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8" name="Group 17">
            <a:extLst>
              <a:ext uri="{FF2B5EF4-FFF2-40B4-BE49-F238E27FC236}">
                <a16:creationId xmlns:a16="http://schemas.microsoft.com/office/drawing/2014/main" id="{CEAE5F49-5B2A-6310-01F5-9B08E742760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a:off x="9058275" y="4146310"/>
            <a:ext cx="3142400" cy="2716805"/>
            <a:chOff x="-305" y="-4155"/>
            <a:chExt cx="2514948" cy="2174333"/>
          </a:xfrm>
          <a:solidFill>
            <a:schemeClr val="bg1">
              <a:alpha val="30000"/>
            </a:schemeClr>
          </a:solidFill>
        </p:grpSpPr>
        <p:sp>
          <p:nvSpPr>
            <p:cNvPr id="19" name="Freeform: Shape 18">
              <a:extLst>
                <a:ext uri="{FF2B5EF4-FFF2-40B4-BE49-F238E27FC236}">
                  <a16:creationId xmlns:a16="http://schemas.microsoft.com/office/drawing/2014/main" id="{465BA243-86C2-3677-585C-607DB1A828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8C292A9E-40FC-3311-B6DF-6ADC86EB3CE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308B9F43-B0D4-D011-2FF9-577372DCCF6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22" name="Freeform: Shape 21">
              <a:extLst>
                <a:ext uri="{FF2B5EF4-FFF2-40B4-BE49-F238E27FC236}">
                  <a16:creationId xmlns:a16="http://schemas.microsoft.com/office/drawing/2014/main" id="{A32CA3DD-37F4-595D-0131-36B7F643C7F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3" name="Picture 2">
            <a:extLst>
              <a:ext uri="{FF2B5EF4-FFF2-40B4-BE49-F238E27FC236}">
                <a16:creationId xmlns:a16="http://schemas.microsoft.com/office/drawing/2014/main" id="{A17EA1B0-E93E-20CF-B738-7B6C85C5792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9768" y="943897"/>
            <a:ext cx="10717161" cy="5427406"/>
          </a:xfrm>
          <a:prstGeom prst="rect">
            <a:avLst/>
          </a:prstGeom>
        </p:spPr>
      </p:pic>
    </p:spTree>
    <p:extLst>
      <p:ext uri="{BB962C8B-B14F-4D97-AF65-F5344CB8AC3E}">
        <p14:creationId xmlns:p14="http://schemas.microsoft.com/office/powerpoint/2010/main" val="313901077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0AC3FC4-7CDB-8B8C-E8F0-E86808A9EE64}"/>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926BA1E-C5C1-3A2F-76EB-01C5A206D1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18546F8A-7BE5-4484-FF41-4C66C31BE4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gradFill flip="none" rotWithShape="1">
            <a:gsLst>
              <a:gs pos="16000">
                <a:schemeClr val="accent6">
                  <a:alpha val="20000"/>
                </a:schemeClr>
              </a:gs>
              <a:gs pos="85000">
                <a:schemeClr val="accent1">
                  <a:alpha val="4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 name="Group 11">
            <a:extLst>
              <a:ext uri="{FF2B5EF4-FFF2-40B4-BE49-F238E27FC236}">
                <a16:creationId xmlns:a16="http://schemas.microsoft.com/office/drawing/2014/main" id="{EC58A9B5-9088-4A36-5245-DF52E6D8DCD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18230" y="-8167"/>
            <a:ext cx="4834070" cy="2488150"/>
            <a:chOff x="6867015" y="-1"/>
            <a:chExt cx="5324985" cy="3251912"/>
          </a:xfrm>
          <a:solidFill>
            <a:schemeClr val="bg1">
              <a:alpha val="30000"/>
            </a:schemeClr>
          </a:solidFill>
        </p:grpSpPr>
        <p:sp>
          <p:nvSpPr>
            <p:cNvPr id="13" name="Freeform: Shape 12">
              <a:extLst>
                <a:ext uri="{FF2B5EF4-FFF2-40B4-BE49-F238E27FC236}">
                  <a16:creationId xmlns:a16="http://schemas.microsoft.com/office/drawing/2014/main" id="{0FD91CD7-716F-D804-9A35-8A2DE81B619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EE504BC5-9FDF-2DB0-C2CA-B88B910DABC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789A27DA-A7FA-B8A3-0279-00BA90D867E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BDBCB364-8923-D45C-C152-E7265A3D1E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8" name="Group 17">
            <a:extLst>
              <a:ext uri="{FF2B5EF4-FFF2-40B4-BE49-F238E27FC236}">
                <a16:creationId xmlns:a16="http://schemas.microsoft.com/office/drawing/2014/main" id="{5235EE9D-66E3-3F15-BC5E-7F4605DFBA0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a:off x="9058275" y="4146310"/>
            <a:ext cx="3142400" cy="2716805"/>
            <a:chOff x="-305" y="-4155"/>
            <a:chExt cx="2514948" cy="2174333"/>
          </a:xfrm>
          <a:solidFill>
            <a:schemeClr val="bg1">
              <a:alpha val="30000"/>
            </a:schemeClr>
          </a:solidFill>
        </p:grpSpPr>
        <p:sp>
          <p:nvSpPr>
            <p:cNvPr id="19" name="Freeform: Shape 18">
              <a:extLst>
                <a:ext uri="{FF2B5EF4-FFF2-40B4-BE49-F238E27FC236}">
                  <a16:creationId xmlns:a16="http://schemas.microsoft.com/office/drawing/2014/main" id="{9DA0ABAE-2024-41DB-DE3C-E7A9CF0AB54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174BC74E-44A5-7698-11B9-C79E1C102B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7985D192-6530-F0E4-F4EB-31D154ECE35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22" name="Freeform: Shape 21">
              <a:extLst>
                <a:ext uri="{FF2B5EF4-FFF2-40B4-BE49-F238E27FC236}">
                  <a16:creationId xmlns:a16="http://schemas.microsoft.com/office/drawing/2014/main" id="{BF6B7ACF-BDF5-0BFA-9383-194BD86407E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2" name="Picture 1">
            <a:extLst>
              <a:ext uri="{FF2B5EF4-FFF2-40B4-BE49-F238E27FC236}">
                <a16:creationId xmlns:a16="http://schemas.microsoft.com/office/drawing/2014/main" id="{F0DBE481-AFDC-E795-F954-D558FD177E9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2377" y="621309"/>
            <a:ext cx="10894140" cy="5476977"/>
          </a:xfrm>
          <a:prstGeom prst="rect">
            <a:avLst/>
          </a:prstGeom>
        </p:spPr>
      </p:pic>
    </p:spTree>
    <p:extLst>
      <p:ext uri="{BB962C8B-B14F-4D97-AF65-F5344CB8AC3E}">
        <p14:creationId xmlns:p14="http://schemas.microsoft.com/office/powerpoint/2010/main" val="411545841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83EA966-28D4-DCB8-A03B-EE02C005083E}"/>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F4BA1178-95A4-593A-789B-C2CCB826352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6F54CB1-0968-AB7F-A947-82FCE8BC1D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gradFill flip="none" rotWithShape="1">
            <a:gsLst>
              <a:gs pos="16000">
                <a:schemeClr val="accent6">
                  <a:alpha val="20000"/>
                </a:schemeClr>
              </a:gs>
              <a:gs pos="85000">
                <a:schemeClr val="accent1">
                  <a:alpha val="4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 name="Group 11">
            <a:extLst>
              <a:ext uri="{FF2B5EF4-FFF2-40B4-BE49-F238E27FC236}">
                <a16:creationId xmlns:a16="http://schemas.microsoft.com/office/drawing/2014/main" id="{95DF7AA2-C09A-A01D-5475-96B86623DC0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18230" y="-8167"/>
            <a:ext cx="4834070" cy="2488150"/>
            <a:chOff x="6867015" y="-1"/>
            <a:chExt cx="5324985" cy="3251912"/>
          </a:xfrm>
          <a:solidFill>
            <a:schemeClr val="bg1">
              <a:alpha val="30000"/>
            </a:schemeClr>
          </a:solidFill>
        </p:grpSpPr>
        <p:sp>
          <p:nvSpPr>
            <p:cNvPr id="13" name="Freeform: Shape 12">
              <a:extLst>
                <a:ext uri="{FF2B5EF4-FFF2-40B4-BE49-F238E27FC236}">
                  <a16:creationId xmlns:a16="http://schemas.microsoft.com/office/drawing/2014/main" id="{3F55887A-6B8E-7264-29FF-493C405B4C8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28525B73-9F1C-7D6A-FAAF-1859B04FFE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414DD1F4-AC55-9A66-510D-F3D33BFC23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8D8A729D-1D3E-A9CF-53D9-0DF7489419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8" name="Group 17">
            <a:extLst>
              <a:ext uri="{FF2B5EF4-FFF2-40B4-BE49-F238E27FC236}">
                <a16:creationId xmlns:a16="http://schemas.microsoft.com/office/drawing/2014/main" id="{854A35FF-8BCF-67AB-7E6E-63AA17E861C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a:off x="9058275" y="4146310"/>
            <a:ext cx="3142400" cy="2716805"/>
            <a:chOff x="-305" y="-4155"/>
            <a:chExt cx="2514948" cy="2174333"/>
          </a:xfrm>
          <a:solidFill>
            <a:schemeClr val="bg1">
              <a:alpha val="30000"/>
            </a:schemeClr>
          </a:solidFill>
        </p:grpSpPr>
        <p:sp>
          <p:nvSpPr>
            <p:cNvPr id="19" name="Freeform: Shape 18">
              <a:extLst>
                <a:ext uri="{FF2B5EF4-FFF2-40B4-BE49-F238E27FC236}">
                  <a16:creationId xmlns:a16="http://schemas.microsoft.com/office/drawing/2014/main" id="{A3C0D2DD-2FE0-3E5C-CFD6-5255278F7D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6D3B6B45-1495-FE8E-0B3C-38A1DC0561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5FB8661B-BF86-CAB4-51E7-07190CEB92B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22" name="Freeform: Shape 21">
              <a:extLst>
                <a:ext uri="{FF2B5EF4-FFF2-40B4-BE49-F238E27FC236}">
                  <a16:creationId xmlns:a16="http://schemas.microsoft.com/office/drawing/2014/main" id="{B8DFA956-A25D-9F99-D664-D572269EFF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2" name="Picture 1">
            <a:extLst>
              <a:ext uri="{FF2B5EF4-FFF2-40B4-BE49-F238E27FC236}">
                <a16:creationId xmlns:a16="http://schemas.microsoft.com/office/drawing/2014/main" id="{21214113-B261-0101-6BFA-092276684D1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67960" y="642900"/>
            <a:ext cx="9822427" cy="5624462"/>
          </a:xfrm>
          <a:prstGeom prst="rect">
            <a:avLst/>
          </a:prstGeom>
        </p:spPr>
      </p:pic>
    </p:spTree>
    <p:extLst>
      <p:ext uri="{BB962C8B-B14F-4D97-AF65-F5344CB8AC3E}">
        <p14:creationId xmlns:p14="http://schemas.microsoft.com/office/powerpoint/2010/main" val="228734913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81CD21B-70AA-397D-050C-940AF0A67D79}"/>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1461143-6C9D-F400-44CF-3B6B69CF94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EDCFC66B-60E7-6E10-F588-0C72675100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gradFill flip="none" rotWithShape="1">
            <a:gsLst>
              <a:gs pos="16000">
                <a:schemeClr val="accent6">
                  <a:alpha val="20000"/>
                </a:schemeClr>
              </a:gs>
              <a:gs pos="85000">
                <a:schemeClr val="accent1">
                  <a:alpha val="4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 name="Group 11">
            <a:extLst>
              <a:ext uri="{FF2B5EF4-FFF2-40B4-BE49-F238E27FC236}">
                <a16:creationId xmlns:a16="http://schemas.microsoft.com/office/drawing/2014/main" id="{00B3696F-5874-4347-EC69-202D52A0D3E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18230" y="-8167"/>
            <a:ext cx="4834070" cy="2488150"/>
            <a:chOff x="6867015" y="-1"/>
            <a:chExt cx="5324985" cy="3251912"/>
          </a:xfrm>
          <a:solidFill>
            <a:schemeClr val="bg1">
              <a:alpha val="30000"/>
            </a:schemeClr>
          </a:solidFill>
        </p:grpSpPr>
        <p:sp>
          <p:nvSpPr>
            <p:cNvPr id="13" name="Freeform: Shape 12">
              <a:extLst>
                <a:ext uri="{FF2B5EF4-FFF2-40B4-BE49-F238E27FC236}">
                  <a16:creationId xmlns:a16="http://schemas.microsoft.com/office/drawing/2014/main" id="{A67F8FDF-F4CF-55EE-3C53-57F2711B810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7FD1A895-707B-5145-E467-18AF0ACD371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34FB8868-A6FA-67C4-AAAE-0727856E3EB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246833B3-710E-3C2B-1B16-47BCCBEF9A4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8" name="Group 17">
            <a:extLst>
              <a:ext uri="{FF2B5EF4-FFF2-40B4-BE49-F238E27FC236}">
                <a16:creationId xmlns:a16="http://schemas.microsoft.com/office/drawing/2014/main" id="{FB4A2465-6CC9-7235-31B0-7DFBA1E019A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a:off x="9058275" y="4146310"/>
            <a:ext cx="3142400" cy="2716805"/>
            <a:chOff x="-305" y="-4155"/>
            <a:chExt cx="2514948" cy="2174333"/>
          </a:xfrm>
          <a:solidFill>
            <a:schemeClr val="bg1">
              <a:alpha val="30000"/>
            </a:schemeClr>
          </a:solidFill>
        </p:grpSpPr>
        <p:sp>
          <p:nvSpPr>
            <p:cNvPr id="19" name="Freeform: Shape 18">
              <a:extLst>
                <a:ext uri="{FF2B5EF4-FFF2-40B4-BE49-F238E27FC236}">
                  <a16:creationId xmlns:a16="http://schemas.microsoft.com/office/drawing/2014/main" id="{21DDC80E-3BE8-ABCF-CC5B-C5A24FF8090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E995C26C-F72D-D77E-A0DD-3AD5D07F7CC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F023FCB5-A722-2DD9-6D9C-482737318F6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22" name="Freeform: Shape 21">
              <a:extLst>
                <a:ext uri="{FF2B5EF4-FFF2-40B4-BE49-F238E27FC236}">
                  <a16:creationId xmlns:a16="http://schemas.microsoft.com/office/drawing/2014/main" id="{14AEDC39-19F3-5F8E-4EC4-D8C3CA3C21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4" name="TextBox 23">
            <a:extLst>
              <a:ext uri="{FF2B5EF4-FFF2-40B4-BE49-F238E27FC236}">
                <a16:creationId xmlns:a16="http://schemas.microsoft.com/office/drawing/2014/main" id="{AC54DA79-C2C2-8CD2-BD5C-93586D8A070D}"/>
              </a:ext>
            </a:extLst>
          </p:cNvPr>
          <p:cNvSpPr txBox="1"/>
          <p:nvPr/>
        </p:nvSpPr>
        <p:spPr>
          <a:xfrm>
            <a:off x="859317" y="404911"/>
            <a:ext cx="10946184"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4800" b="1" u="sng" dirty="0"/>
              <a:t>Conclusion:</a:t>
            </a:r>
          </a:p>
        </p:txBody>
      </p:sp>
      <p:sp>
        <p:nvSpPr>
          <p:cNvPr id="3" name="TextBox 2">
            <a:extLst>
              <a:ext uri="{FF2B5EF4-FFF2-40B4-BE49-F238E27FC236}">
                <a16:creationId xmlns:a16="http://schemas.microsoft.com/office/drawing/2014/main" id="{37C9A8F0-5B1F-934E-FB06-AFD1E2C98FD0}"/>
              </a:ext>
            </a:extLst>
          </p:cNvPr>
          <p:cNvSpPr txBox="1"/>
          <p:nvPr/>
        </p:nvSpPr>
        <p:spPr>
          <a:xfrm>
            <a:off x="859317" y="1797784"/>
            <a:ext cx="10620260" cy="1631216"/>
          </a:xfrm>
          <a:prstGeom prst="rect">
            <a:avLst/>
          </a:prstGeom>
          <a:noFill/>
        </p:spPr>
        <p:txBody>
          <a:bodyPr wrap="square">
            <a:spAutoFit/>
          </a:bodyPr>
          <a:lstStyle/>
          <a:p>
            <a:r>
              <a:rPr lang="en-US" sz="2000" dirty="0" err="1"/>
              <a:t>EventMate</a:t>
            </a:r>
            <a:r>
              <a:rPr lang="en-US" sz="2000" dirty="0"/>
              <a:t> provides a reliable and user-friendly platform for managing events by integrating a React frontend, Spring Boot backend, and MySQL database. The project highlights how modern technologies can be combined to deliver a scalable and practical solution for personal, academic, and professional event management, with scope for future enhancements like calendar integration and mobile support.</a:t>
            </a:r>
            <a:endParaRPr lang="en-IN" sz="2000" dirty="0"/>
          </a:p>
        </p:txBody>
      </p:sp>
    </p:spTree>
    <p:extLst>
      <p:ext uri="{BB962C8B-B14F-4D97-AF65-F5344CB8AC3E}">
        <p14:creationId xmlns:p14="http://schemas.microsoft.com/office/powerpoint/2010/main" val="219256161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E0C2977-C378-CA6E-177C-9695630E1244}"/>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6ADD21C-9B71-607C-86B6-F00F7315921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470C654A-F75C-F0AD-9847-7BA3A2DF92D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gradFill flip="none" rotWithShape="1">
            <a:gsLst>
              <a:gs pos="16000">
                <a:schemeClr val="accent6">
                  <a:alpha val="20000"/>
                </a:schemeClr>
              </a:gs>
              <a:gs pos="85000">
                <a:schemeClr val="accent1">
                  <a:alpha val="4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 name="Group 11">
            <a:extLst>
              <a:ext uri="{FF2B5EF4-FFF2-40B4-BE49-F238E27FC236}">
                <a16:creationId xmlns:a16="http://schemas.microsoft.com/office/drawing/2014/main" id="{327C3AC7-499F-ABD3-BFF0-52480072BC8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18230" y="-8167"/>
            <a:ext cx="4834070" cy="2488150"/>
            <a:chOff x="6867015" y="-1"/>
            <a:chExt cx="5324985" cy="3251912"/>
          </a:xfrm>
          <a:solidFill>
            <a:schemeClr val="bg1">
              <a:alpha val="30000"/>
            </a:schemeClr>
          </a:solidFill>
        </p:grpSpPr>
        <p:sp>
          <p:nvSpPr>
            <p:cNvPr id="13" name="Freeform: Shape 12">
              <a:extLst>
                <a:ext uri="{FF2B5EF4-FFF2-40B4-BE49-F238E27FC236}">
                  <a16:creationId xmlns:a16="http://schemas.microsoft.com/office/drawing/2014/main" id="{969C86FD-FBED-E020-14F6-9118E263756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DA233970-0367-E212-1B1C-E7E20B17EBB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A84B94D2-EED7-94C0-BBC2-DE31F29ADC6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63A58A69-F924-6790-32A3-D56437D5E0F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8" name="Group 17">
            <a:extLst>
              <a:ext uri="{FF2B5EF4-FFF2-40B4-BE49-F238E27FC236}">
                <a16:creationId xmlns:a16="http://schemas.microsoft.com/office/drawing/2014/main" id="{59F3A510-45BC-A82E-C676-4E47B8F360F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a:off x="9058275" y="4146310"/>
            <a:ext cx="3142400" cy="2716805"/>
            <a:chOff x="-305" y="-4155"/>
            <a:chExt cx="2514948" cy="2174333"/>
          </a:xfrm>
          <a:solidFill>
            <a:schemeClr val="bg1">
              <a:alpha val="30000"/>
            </a:schemeClr>
          </a:solidFill>
        </p:grpSpPr>
        <p:sp>
          <p:nvSpPr>
            <p:cNvPr id="19" name="Freeform: Shape 18">
              <a:extLst>
                <a:ext uri="{FF2B5EF4-FFF2-40B4-BE49-F238E27FC236}">
                  <a16:creationId xmlns:a16="http://schemas.microsoft.com/office/drawing/2014/main" id="{E5556BD1-E2CB-B0DF-AD20-BCFCD8DF83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86D30F14-2F52-B242-7E90-5C8CB7D544B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58C6CD40-8163-9E11-E2D4-EA22FFD77B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22" name="Freeform: Shape 21">
              <a:extLst>
                <a:ext uri="{FF2B5EF4-FFF2-40B4-BE49-F238E27FC236}">
                  <a16:creationId xmlns:a16="http://schemas.microsoft.com/office/drawing/2014/main" id="{87842DC9-4041-B62C-1E1F-928B5B5A07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extBox 1">
            <a:extLst>
              <a:ext uri="{FF2B5EF4-FFF2-40B4-BE49-F238E27FC236}">
                <a16:creationId xmlns:a16="http://schemas.microsoft.com/office/drawing/2014/main" id="{345F6795-C5BC-BE3A-C8C5-98B98AE058E1}"/>
              </a:ext>
            </a:extLst>
          </p:cNvPr>
          <p:cNvSpPr txBox="1"/>
          <p:nvPr/>
        </p:nvSpPr>
        <p:spPr>
          <a:xfrm>
            <a:off x="2548850" y="2428661"/>
            <a:ext cx="10113484" cy="15696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9600" dirty="0"/>
              <a:t>THANK YOU</a:t>
            </a:r>
          </a:p>
        </p:txBody>
      </p:sp>
    </p:spTree>
    <p:extLst>
      <p:ext uri="{BB962C8B-B14F-4D97-AF65-F5344CB8AC3E}">
        <p14:creationId xmlns:p14="http://schemas.microsoft.com/office/powerpoint/2010/main" val="415453011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117</TotalTime>
  <Words>1325</Words>
  <Application>Microsoft Office PowerPoint</Application>
  <PresentationFormat>Widescreen</PresentationFormat>
  <Paragraphs>169</Paragraphs>
  <Slides>22</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22</vt:i4>
      </vt:variant>
    </vt:vector>
  </HeadingPairs>
  <TitlesOfParts>
    <vt:vector size="29" baseType="lpstr">
      <vt:lpstr>Aptos</vt:lpstr>
      <vt:lpstr>Aptos Display</vt:lpstr>
      <vt:lpstr>Arial</vt:lpstr>
      <vt:lpstr>Calibri</vt:lpstr>
      <vt:lpstr>Courier New</vt:lpstr>
      <vt:lpstr>Wingdings</vt:lpstr>
      <vt:lpstr>office theme</vt:lpstr>
      <vt:lpstr>EventMate</vt:lpstr>
      <vt:lpstr>Introduction to project</vt:lpstr>
      <vt:lpstr>Project Description  </vt:lpstr>
      <vt:lpstr>Frontend and Backend  </vt:lpstr>
      <vt:lpstr>Objective of Project</vt:lpstr>
      <vt:lpstr> Features</vt:lpstr>
      <vt:lpstr>PowerPoint Presentation</vt:lpstr>
      <vt:lpstr>PowerPoint Presentation</vt:lpstr>
      <vt:lpstr>PowerPoint Presentation</vt:lpstr>
      <vt:lpstr>Connecting Spring with Database</vt:lpstr>
      <vt:lpstr>PowerPoint Presentation</vt:lpstr>
      <vt:lpstr>DataBase: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Sanjana Hazare</dc:creator>
  <cp:lastModifiedBy>Gokul M</cp:lastModifiedBy>
  <cp:revision>215</cp:revision>
  <dcterms:created xsi:type="dcterms:W3CDTF">2025-09-17T16:48:31Z</dcterms:created>
  <dcterms:modified xsi:type="dcterms:W3CDTF">2025-11-03T14:44:26Z</dcterms:modified>
</cp:coreProperties>
</file>